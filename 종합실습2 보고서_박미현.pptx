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92" r:id="rId4"/>
    <p:sldId id="293" r:id="rId5"/>
    <p:sldId id="294" r:id="rId6"/>
    <p:sldId id="295" r:id="rId7"/>
    <p:sldId id="297" r:id="rId8"/>
    <p:sldId id="296" r:id="rId9"/>
    <p:sldId id="298" r:id="rId10"/>
    <p:sldId id="299" r:id="rId11"/>
    <p:sldId id="301" r:id="rId12"/>
    <p:sldId id="302" r:id="rId13"/>
    <p:sldId id="30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EF6B9-3416-4B54-83CD-6D85B6296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865F00-B4CD-4394-A511-685A92DBF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938E5E-7F69-4D44-B809-3508E2F6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27004-00FD-4A5A-BF5C-56748445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76250-68FB-4FB2-A784-8EBBDF3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91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959A9-6E48-47E6-973A-D777479A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EBED3-60F0-4A50-B84D-6F89FD979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E355DE-8D84-42DB-9C63-5874CB8F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D4AF9-2AFA-4481-A642-3F913665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0BD17-63F5-4E8C-AD98-B98C7E83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B5867-C312-4E91-A526-7D2052FD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271A7D-F54A-457D-B191-69AF08F61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B486C-D899-4219-B784-74381FF6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02375-4C76-41D3-8252-EE31A97B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4ABD3-046D-4903-8C05-B27A26AF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62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07EE8-1B80-4F7A-BDCD-28FB3D3F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C4B1C-5A37-41BA-B168-5A59F7AD4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370929-1AC0-4885-B207-C428899DA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DD91F5-720D-4A61-9B25-54EB8305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95B9D0-D02F-4424-AC9C-5D677ED9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C363EF-271A-407A-85FE-5AF545DF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36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6219F-3615-4D58-93E7-40052BBE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DCEEDB-EB1B-475A-8B31-0F19FCF19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4FD6B8-89A2-4E21-BE2C-1CEAE8812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D37E1A-DA35-4CB1-8C99-342A88E97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7987DC-2E35-4442-99F5-B88EBC665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D65D7F-7D9E-4F31-83B3-19ACF591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6FD439-6E1E-4ACF-8C93-0166BC3F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B402E3-5373-49EB-AD1B-05E6374E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23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160A4-435A-4DBA-B502-CAC32EC5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4372FA-E4EF-4613-874F-AD9C2721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6599C-2D96-4492-98F5-ECFF33D1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310285-D99B-49B7-A854-2D1A1588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93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2498E2-8D85-4FB1-8D50-9A08FC20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CD3F62-320D-404E-92F0-2CD1B35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28EFD-7D5C-4A8A-9802-5C79579B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86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5B7FC-01FF-44F1-916C-6C7B06C3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3A82A-4B0D-40A5-AD67-8A8B85597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A60991-2F1D-41BE-838D-402BA79C5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BD7D11-8023-4208-9828-46AD925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02527D-E3EA-486D-A1AE-D222160D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BD773D-8E75-4585-BCAB-8F06FD06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96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CF40E-1280-4A8D-B5DB-77149EE9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BB20C1-6598-4D55-AFB9-1FE3902EF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A8CBD1-2840-4916-A64D-9CB1B53F3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9397D-3059-49C9-829C-1C01BC3F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FCF27-0B19-4EA3-BA70-3A8010F8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772BF0-F9F7-4312-B8B7-8A84440E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6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6B9FC-8DC2-4AE5-A655-77DDF40F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28F239-6104-458A-BDDB-7B6B5F158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58A19A-B4A0-4829-B5D0-F4223A1A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D134D-0233-457B-9130-A4DF1EAD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62EB0-D6F1-454E-BFB8-9949E1B8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87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957B6A-419C-49B0-9864-B48995D94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9796D2-084B-4B08-8878-FF057D921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B31B3-AA80-4C1D-943B-68CCDE6C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8C7F3-CEB1-4733-87EE-F46781B9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CF248-674E-41B0-9552-C6CE2668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2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9E9824-B0FC-4975-A9D7-B02BF3D7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45C20-CB36-4C6B-A75F-880C225A6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83F8F-A7CC-41DC-A9DD-FAA81AE6F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0DD7A-49E2-404B-A9CE-4D78606B7953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F05E7-D587-436A-BEF6-127A33C83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AFDF3-BFF9-4B03-AB4E-DFB5EEE68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C4A17-7D79-4E88-AEEA-071F3B9D2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5">
            <a:extLst>
              <a:ext uri="{FF2B5EF4-FFF2-40B4-BE49-F238E27FC236}">
                <a16:creationId xmlns:a16="http://schemas.microsoft.com/office/drawing/2014/main" id="{66505FFB-E605-4D31-99D5-AB10ACE04034}"/>
              </a:ext>
            </a:extLst>
          </p:cNvPr>
          <p:cNvSpPr/>
          <p:nvPr/>
        </p:nvSpPr>
        <p:spPr>
          <a:xfrm>
            <a:off x="2319606" y="1113944"/>
            <a:ext cx="7755049" cy="18832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Scale </a:t>
            </a:r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불량발생에 </a:t>
            </a:r>
            <a:endParaRPr lang="en-US" altLang="ko-KR" sz="3200" b="1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ko-KR" altLang="en-US" sz="3200" b="1" dirty="0">
                <a:solidFill>
                  <a:schemeClr val="bg2">
                    <a:lumMod val="25000"/>
                  </a:schemeClr>
                </a:solidFill>
              </a:rPr>
              <a:t>영향을 주는 요인은 무엇일까</a:t>
            </a:r>
            <a:r>
              <a:rPr lang="en-US" altLang="ko-KR" sz="3200" b="1" dirty="0">
                <a:solidFill>
                  <a:schemeClr val="bg2">
                    <a:lumMod val="25000"/>
                  </a:schemeClr>
                </a:solidFill>
              </a:rPr>
              <a:t>?</a:t>
            </a:r>
            <a:endParaRPr lang="en-US" altLang="ko-KR" sz="3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D3DEEF-557B-43BA-868C-B783FA1C04EE}"/>
              </a:ext>
            </a:extLst>
          </p:cNvPr>
          <p:cNvSpPr/>
          <p:nvPr/>
        </p:nvSpPr>
        <p:spPr>
          <a:xfrm>
            <a:off x="8784771" y="5935900"/>
            <a:ext cx="3407229" cy="6983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0" dirty="0">
                <a:solidFill>
                  <a:schemeClr val="bg2">
                    <a:lumMod val="25000"/>
                  </a:schemeClr>
                </a:solidFill>
                <a:latin typeface="+mj-lt"/>
                <a:ea typeface="문체부 제목 돋음체" panose="020B0609000101010101" pitchFamily="49" charset="-127"/>
              </a:rPr>
              <a:t>   A</a:t>
            </a:r>
            <a:r>
              <a:rPr lang="ko-KR" altLang="en-US" sz="2800" b="1" kern="0" dirty="0">
                <a:solidFill>
                  <a:schemeClr val="bg2">
                    <a:lumMod val="25000"/>
                  </a:schemeClr>
                </a:solidFill>
                <a:latin typeface="+mj-lt"/>
                <a:ea typeface="문체부 제목 돋음체" panose="020B0609000101010101" pitchFamily="49" charset="-127"/>
              </a:rPr>
              <a:t>반 </a:t>
            </a:r>
            <a:r>
              <a:rPr lang="en-US" altLang="ko-KR" sz="2800" b="1" kern="0" dirty="0">
                <a:solidFill>
                  <a:schemeClr val="bg2">
                    <a:lumMod val="25000"/>
                  </a:schemeClr>
                </a:solidFill>
                <a:latin typeface="+mj-lt"/>
                <a:ea typeface="문체부 제목 돋음체" panose="020B0609000101010101" pitchFamily="49" charset="-127"/>
              </a:rPr>
              <a:t>1</a:t>
            </a:r>
            <a:r>
              <a:rPr lang="ko-KR" altLang="en-US" sz="2800" b="1" kern="0" dirty="0">
                <a:solidFill>
                  <a:schemeClr val="bg2">
                    <a:lumMod val="25000"/>
                  </a:schemeClr>
                </a:solidFill>
                <a:latin typeface="+mj-lt"/>
                <a:ea typeface="문체부 제목 돋음체" panose="020B0609000101010101" pitchFamily="49" charset="-127"/>
              </a:rPr>
              <a:t>조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ea typeface="문체부 제목 돋음체" panose="020B0609000101010101" pitchFamily="49" charset="-127"/>
                <a:cs typeface="+mn-cs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ea typeface="문체부 제목 돋음체" panose="020B0609000101010101" pitchFamily="49" charset="-127"/>
                <a:cs typeface="+mn-cs"/>
              </a:rPr>
              <a:t>박미현</a:t>
            </a:r>
          </a:p>
        </p:txBody>
      </p:sp>
    </p:spTree>
    <p:extLst>
      <p:ext uri="{BB962C8B-B14F-4D97-AF65-F5344CB8AC3E}">
        <p14:creationId xmlns:p14="http://schemas.microsoft.com/office/powerpoint/2010/main" val="2328506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542CE0C-48B2-4A34-9226-E7703DECD53E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1C5FA-FB99-42E3-9347-09229D37E42F}"/>
              </a:ext>
            </a:extLst>
          </p:cNvPr>
          <p:cNvSpPr txBox="1"/>
          <p:nvPr/>
        </p:nvSpPr>
        <p:spPr>
          <a:xfrm>
            <a:off x="6684800" y="5128573"/>
            <a:ext cx="4305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필요한 패키지들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import,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데이터 구성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461078-018E-4F3F-AF17-C582D62392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60"/>
          <a:stretch/>
        </p:blipFill>
        <p:spPr>
          <a:xfrm>
            <a:off x="239118" y="65314"/>
            <a:ext cx="4017195" cy="67273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46E005-62B2-4C59-AD9D-EDE9175F8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891" y="1755718"/>
            <a:ext cx="8397352" cy="210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4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A503E9-D484-4B44-BD84-B1ED676E1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0" y="1185181"/>
            <a:ext cx="2762250" cy="5324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B27C0A-4D0D-4FEC-BB4F-AF42F3A0ABEC}"/>
              </a:ext>
            </a:extLst>
          </p:cNvPr>
          <p:cNvSpPr txBox="1"/>
          <p:nvPr/>
        </p:nvSpPr>
        <p:spPr>
          <a:xfrm>
            <a:off x="4910431" y="5131938"/>
            <a:ext cx="430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이상치 처리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평균에서 많이 벗어난 값을 평균값으로 맞춰 대체해주기 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0FDC15-B832-4E38-A3CE-17D42DD134B5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데이터 정제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BBDFC3-52DA-4B03-8DDD-9880B4D5A1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161"/>
          <a:stretch/>
        </p:blipFill>
        <p:spPr>
          <a:xfrm>
            <a:off x="3352800" y="2854595"/>
            <a:ext cx="8392886" cy="23065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F99660-EEF3-49B5-898A-D0482B10E85F}"/>
              </a:ext>
            </a:extLst>
          </p:cNvPr>
          <p:cNvSpPr txBox="1"/>
          <p:nvPr/>
        </p:nvSpPr>
        <p:spPr>
          <a:xfrm>
            <a:off x="3068410" y="1406798"/>
            <a:ext cx="4305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결측치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확인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결측치는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존재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7016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C87D559-52D5-4987-A2BE-685AF117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4"/>
            <a:ext cx="12192000" cy="53741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3518792" y="6116075"/>
            <a:ext cx="430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목표변수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SCALE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에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SPEC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과 같이 영향을 미칠 수 없는 변수들 제거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192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0FDC15-B832-4E38-A3CE-17D42DD134B5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1" i="0" u="none" strike="noStrike" kern="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94FF0-667B-4516-8B86-7BEB56351932}"/>
              </a:ext>
            </a:extLst>
          </p:cNvPr>
          <p:cNvSpPr txBox="1"/>
          <p:nvPr/>
        </p:nvSpPr>
        <p:spPr>
          <a:xfrm>
            <a:off x="3625915" y="2009152"/>
            <a:ext cx="4549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Dummy 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처리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이산형 변수들을 연속형으로 만들기 위함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C7E8AA-CECF-4326-B96C-7F2D1A9D5A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373"/>
          <a:stretch/>
        </p:blipFill>
        <p:spPr>
          <a:xfrm>
            <a:off x="0" y="463380"/>
            <a:ext cx="12192000" cy="15457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58CA55-F17B-4C09-ABDD-59A2434B3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4187"/>
            <a:ext cx="10506075" cy="2333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FCB29F-88AA-4FD4-9665-10F9E2760930}"/>
              </a:ext>
            </a:extLst>
          </p:cNvPr>
          <p:cNvSpPr txBox="1"/>
          <p:nvPr/>
        </p:nvSpPr>
        <p:spPr>
          <a:xfrm>
            <a:off x="3549715" y="5034646"/>
            <a:ext cx="4549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데이터 분할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Train, test 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데이터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7:3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비율로 분할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5108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7039655" y="1188370"/>
            <a:ext cx="663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의사결정분류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목표변수가 이산형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모델 생성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탐색적분석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634A45-43A1-47C6-930C-D507DCE27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646334"/>
            <a:ext cx="6763431" cy="2192069"/>
          </a:xfrm>
          <a:prstGeom prst="rect">
            <a:avLst/>
          </a:prstGeom>
        </p:spPr>
      </p:pic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B7B3F9BB-B86A-42F5-A3DA-821FFE180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" y="3494314"/>
            <a:ext cx="9800545" cy="3041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9E4D85-D811-4845-BD06-FAA45F7B0EC5}"/>
              </a:ext>
            </a:extLst>
          </p:cNvPr>
          <p:cNvSpPr txBox="1"/>
          <p:nvPr/>
        </p:nvSpPr>
        <p:spPr>
          <a:xfrm>
            <a:off x="5243512" y="3195773"/>
            <a:ext cx="6637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히스토그램으로 보여주는 함수 정의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크로스탭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프린트형으로 보여주는 함수 정의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26B9F-785D-4419-A79D-E8E280564258}"/>
              </a:ext>
            </a:extLst>
          </p:cNvPr>
          <p:cNvSpPr txBox="1"/>
          <p:nvPr/>
        </p:nvSpPr>
        <p:spPr>
          <a:xfrm>
            <a:off x="2777210" y="3253902"/>
            <a:ext cx="6637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탐색적분석 시작</a:t>
            </a:r>
            <a:endParaRPr lang="en-US" altLang="ko-KR" sz="2400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651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591934" y="2505668"/>
            <a:ext cx="2555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히스토그램 및 </a:t>
            </a: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크로스탭으로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각각의 설명변수에 대한 분석 시도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아래 제시한 변수들이 </a:t>
            </a: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의미있다고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파악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탐색적 분석</a:t>
            </a: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1A0383BE-090B-4B4A-A5E4-607A3CFDA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658" y="0"/>
            <a:ext cx="2133600" cy="6858000"/>
          </a:xfrm>
          <a:prstGeom prst="rect">
            <a:avLst/>
          </a:prstGeom>
        </p:spPr>
      </p:pic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6DD00320-E589-4E14-BE1F-CBF8DB8C5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742" y="-2"/>
            <a:ext cx="3256297" cy="6858000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439A558A-7E04-475F-8488-F9A04FEE8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525" y="0"/>
            <a:ext cx="2052483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27730A1-85C0-4A4F-87D5-550C4E4AE817}"/>
              </a:ext>
            </a:extLst>
          </p:cNvPr>
          <p:cNvSpPr/>
          <p:nvPr/>
        </p:nvSpPr>
        <p:spPr>
          <a:xfrm>
            <a:off x="198742" y="497633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ROLLING_TEMP_T5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압연온도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미적용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FUR_EXTEMP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추출온도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ROLLING_DESCALING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디스케일링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횟수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PT_LENGTH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플레이트 길이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74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1581134" y="4936675"/>
            <a:ext cx="9228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탐색적 분석에서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SCALE 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불량에 영향을 미치는 변수들을 추려보았는데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설명변수의 중요도 결과 그래프로 다시 한 번 검증해보기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검증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454F687-0D7A-4E03-BE22-EDD73C3D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34" y="1576388"/>
            <a:ext cx="5962650" cy="309562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459C5A7-B4C9-4B88-BE97-1D3ADF3A30BC}"/>
              </a:ext>
            </a:extLst>
          </p:cNvPr>
          <p:cNvSpPr/>
          <p:nvPr/>
        </p:nvSpPr>
        <p:spPr>
          <a:xfrm>
            <a:off x="7543784" y="249602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ROLLING_TEMP_T5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압연온도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미적용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FUR_EXTEMP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추출온도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ROLLING_DESCALING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디스케일링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횟수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중요 설명변수들은 다음과 같다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  <a:p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그래프에서 보이는 바와 같이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위 순서대로 영향이 크다고 할 수 있음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42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78906" y="934475"/>
            <a:ext cx="43053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앞서 의사결정나무분류모델을 생성했으니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, ‘Depth’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변경에 따른 나무모델 성능을 파악해보자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ROLLING_TEMP_T5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압연온도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변수가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맑은 고딕" panose="020B0503020000020004" pitchFamily="50" charset="-127"/>
              </a:rPr>
              <a:t>1000.5</a:t>
            </a:r>
            <a:r>
              <a:rPr lang="ko-KR" altLang="en-US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맑은 고딕" panose="020B0503020000020004" pitchFamily="50" charset="-127"/>
              </a:rPr>
              <a:t>를 넘으면 모두 불량</a:t>
            </a:r>
            <a:endParaRPr lang="en-US" altLang="ko-KR" b="1" dirty="0">
              <a:solidFill>
                <a:srgbClr val="000000"/>
              </a:solidFill>
              <a:highlight>
                <a:srgbClr val="FFFF00"/>
              </a:highlight>
              <a:latin typeface="Courier New" panose="02070309020205020404" pitchFamily="49" charset="0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의사결정나무 모델 기법</a:t>
            </a:r>
          </a:p>
        </p:txBody>
      </p:sp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DF828E3F-221F-4247-A177-14D1BC6AD7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68"/>
          <a:stretch/>
        </p:blipFill>
        <p:spPr>
          <a:xfrm>
            <a:off x="5051799" y="17514"/>
            <a:ext cx="5178522" cy="6840486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254A5E0-D42C-4FEF-8ECA-14B3E0F802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1" b="35068"/>
          <a:stretch/>
        </p:blipFill>
        <p:spPr>
          <a:xfrm>
            <a:off x="7815943" y="1480457"/>
            <a:ext cx="5009000" cy="390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44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r" latinLnBrk="0"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3200" b="1" kern="0" dirty="0">
                <a:solidFill>
                  <a:srgbClr val="E7E6E6">
                    <a:lumMod val="25000"/>
                  </a:srgbClr>
                </a:solidFill>
                <a:latin typeface="Calibri" panose="020F0502020204030204"/>
              </a:rPr>
              <a:t> 의사결정나무 모델 기법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D77EC0A-E09C-4848-9FEC-99C6C02B4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97" t="9205" r="10079" b="53305"/>
          <a:stretch/>
        </p:blipFill>
        <p:spPr>
          <a:xfrm>
            <a:off x="500743" y="0"/>
            <a:ext cx="4787800" cy="649877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7A61230-5CF8-4D9B-AAF8-DCE3F8006D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97" t="49005" r="32466" b="30477"/>
          <a:stretch/>
        </p:blipFill>
        <p:spPr>
          <a:xfrm>
            <a:off x="6512374" y="646334"/>
            <a:ext cx="3437169" cy="3566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2282279" y="5201675"/>
            <a:ext cx="430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최종나무모델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Max_depth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값을 판단 후 결국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로 선정하여 넣었다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9FA93-EDBA-4518-9AFF-4680CCF5F160}"/>
              </a:ext>
            </a:extLst>
          </p:cNvPr>
          <p:cNvSpPr txBox="1"/>
          <p:nvPr/>
        </p:nvSpPr>
        <p:spPr>
          <a:xfrm>
            <a:off x="6512374" y="4307322"/>
            <a:ext cx="430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의사결정나무 모델에 의한 중요도</a:t>
            </a: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E38D5-C4DF-45D5-928C-4F09463567CD}"/>
              </a:ext>
            </a:extLst>
          </p:cNvPr>
          <p:cNvSpPr/>
          <p:nvPr/>
        </p:nvSpPr>
        <p:spPr>
          <a:xfrm>
            <a:off x="7047571" y="464767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ROLLING_TEMP_T5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압연온도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미적용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FUR_EXTEMP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추출온도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ROLLING_DESCALING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디스케일링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횟수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변수들이 영향을 많이 미친다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653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랜덤포레스트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모델 기법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4C420F8-A65A-44CD-8D52-98C0A601FA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56" t="9425" r="18577" b="28254"/>
          <a:stretch/>
        </p:blipFill>
        <p:spPr>
          <a:xfrm>
            <a:off x="6318195" y="13608"/>
            <a:ext cx="3686415" cy="68443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022C54-6BA6-4092-BF87-62C3D00927D3}"/>
              </a:ext>
            </a:extLst>
          </p:cNvPr>
          <p:cNvSpPr txBox="1"/>
          <p:nvPr/>
        </p:nvSpPr>
        <p:spPr>
          <a:xfrm>
            <a:off x="1175950" y="2656339"/>
            <a:ext cx="4305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랜덤포레스트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모델 역시 앞의 의사결정모델과 같이 같은 과정 진행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180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랜덤포레스트</a:t>
            </a: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모델 기법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22C54-6BA6-4092-BF87-62C3D00927D3}"/>
              </a:ext>
            </a:extLst>
          </p:cNvPr>
          <p:cNvSpPr txBox="1"/>
          <p:nvPr/>
        </p:nvSpPr>
        <p:spPr>
          <a:xfrm>
            <a:off x="1068374" y="2647373"/>
            <a:ext cx="430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최종 </a:t>
            </a: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랜덤포레스트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모델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err="1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트리수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 파라미터는 판단 후 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20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으로 선정하여 넣었다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FCCB32-5133-4BE7-A37D-BFA92C970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515" y="0"/>
            <a:ext cx="4835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5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15B8B-F8DC-417A-8F2C-4A5BB8276C4E}"/>
              </a:ext>
            </a:extLst>
          </p:cNvPr>
          <p:cNvSpPr txBox="1"/>
          <p:nvPr/>
        </p:nvSpPr>
        <p:spPr>
          <a:xfrm>
            <a:off x="0" y="818899"/>
            <a:ext cx="6659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분석 결과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, SCALE</a:t>
            </a:r>
            <a:r>
              <a:rPr lang="ko-KR" altLang="en-US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이 양품인지 불량인지에 대해 영향을 크게 미치는 요인들은 다음 변수들이다</a:t>
            </a:r>
            <a:r>
              <a:rPr lang="en-US" altLang="ko-KR" b="1" dirty="0">
                <a:solidFill>
                  <a:srgbClr val="E7E6E6">
                    <a:lumMod val="2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876D9-D20E-4094-A6C2-2D388EB58807}"/>
              </a:ext>
            </a:extLst>
          </p:cNvPr>
          <p:cNvSpPr/>
          <p:nvPr/>
        </p:nvSpPr>
        <p:spPr>
          <a:xfrm>
            <a:off x="0" y="2"/>
            <a:ext cx="12192000" cy="646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결론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5C2BF7-E198-45F5-890D-72301E2AC3BD}"/>
              </a:ext>
            </a:extLst>
          </p:cNvPr>
          <p:cNvSpPr/>
          <p:nvPr/>
        </p:nvSpPr>
        <p:spPr>
          <a:xfrm>
            <a:off x="170330" y="154265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-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ROLLING_TEMP_T5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압연온도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-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hsb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미적용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-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FUR_EXTEMP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추출온도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-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ROLLING_DESCALING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디스케일링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횟수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5C32EB-4B64-4778-8E44-634958CB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20" y="1061732"/>
            <a:ext cx="4162953" cy="3324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55A2F9-B406-49B3-BB29-1104FAC24EB1}"/>
              </a:ext>
            </a:extLst>
          </p:cNvPr>
          <p:cNvSpPr txBox="1"/>
          <p:nvPr/>
        </p:nvSpPr>
        <p:spPr>
          <a:xfrm>
            <a:off x="1148477" y="4330941"/>
            <a:ext cx="71192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  <a:defRPr/>
            </a:pPr>
            <a:r>
              <a:rPr lang="en-US" altLang="ko-KR" dirty="0" err="1"/>
              <a:t>ROLLING_TEMP_T5</a:t>
            </a:r>
            <a:r>
              <a:rPr lang="en-US" altLang="ko-KR" dirty="0"/>
              <a:t>(</a:t>
            </a:r>
            <a:r>
              <a:rPr lang="ko-KR" altLang="en-US" dirty="0"/>
              <a:t>압연온도</a:t>
            </a:r>
            <a:r>
              <a:rPr lang="en-US" altLang="ko-KR" dirty="0"/>
              <a:t>)</a:t>
            </a:r>
            <a:r>
              <a:rPr lang="ko-KR" altLang="en-US" dirty="0"/>
              <a:t>가 </a:t>
            </a:r>
            <a:r>
              <a:rPr lang="en-US" altLang="ko-KR" dirty="0"/>
              <a:t>1000.5</a:t>
            </a:r>
            <a:r>
              <a:rPr lang="ko-KR" altLang="en-US" dirty="0"/>
              <a:t> 초과하면 무조건 불량 발생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à"/>
              <a:defRPr/>
            </a:pPr>
            <a:r>
              <a:rPr lang="en-US" altLang="ko-KR" dirty="0" err="1"/>
              <a:t>Hsb</a:t>
            </a:r>
            <a:r>
              <a:rPr lang="ko-KR" altLang="en-US" dirty="0"/>
              <a:t>적용하면 무조건 불량 발생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à"/>
              <a:defRPr/>
            </a:pP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FUR_EXTEMP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추출온도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가 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1175.5</a:t>
            </a:r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도 보다 높으면 무조건 불량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</a:p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en-US" altLang="ko-KR" dirty="0"/>
          </a:p>
          <a:p>
            <a:pPr>
              <a:defRPr/>
            </a:pPr>
            <a:r>
              <a:rPr lang="en-US" altLang="ko-KR" sz="1000" dirty="0"/>
              <a:t>(</a:t>
            </a:r>
            <a:r>
              <a:rPr lang="ko-KR" altLang="en-US" sz="1000" dirty="0"/>
              <a:t>의사결정나무모델 기반 정보</a:t>
            </a:r>
            <a:r>
              <a:rPr lang="en-US" altLang="ko-KR" sz="1000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>
              <a:solidFill>
                <a:srgbClr val="E7E6E6">
                  <a:lumMod val="25000"/>
                </a:srgb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84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주황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411</Words>
  <Application>Microsoft Office PowerPoint</Application>
  <PresentationFormat>와이드스크린</PresentationFormat>
  <Paragraphs>84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Calibri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박미현</dc:creator>
  <cp:lastModifiedBy>박미현</cp:lastModifiedBy>
  <cp:revision>21</cp:revision>
  <dcterms:created xsi:type="dcterms:W3CDTF">2020-07-16T11:38:01Z</dcterms:created>
  <dcterms:modified xsi:type="dcterms:W3CDTF">2020-07-16T14:45:02Z</dcterms:modified>
</cp:coreProperties>
</file>