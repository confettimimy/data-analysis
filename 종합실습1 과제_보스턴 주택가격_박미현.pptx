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29"/>
  </p:notesMasterIdLst>
  <p:sldIdLst>
    <p:sldId id="256" r:id="rId3"/>
    <p:sldId id="257" r:id="rId4"/>
    <p:sldId id="271" r:id="rId5"/>
    <p:sldId id="272" r:id="rId6"/>
    <p:sldId id="258" r:id="rId7"/>
    <p:sldId id="267" r:id="rId8"/>
    <p:sldId id="259" r:id="rId9"/>
    <p:sldId id="260" r:id="rId10"/>
    <p:sldId id="269" r:id="rId11"/>
    <p:sldId id="268" r:id="rId12"/>
    <p:sldId id="270" r:id="rId13"/>
    <p:sldId id="262" r:id="rId14"/>
    <p:sldId id="2691" r:id="rId15"/>
    <p:sldId id="2692" r:id="rId16"/>
    <p:sldId id="2677" r:id="rId17"/>
    <p:sldId id="2686" r:id="rId18"/>
    <p:sldId id="2687" r:id="rId19"/>
    <p:sldId id="2688" r:id="rId20"/>
    <p:sldId id="2689" r:id="rId21"/>
    <p:sldId id="2690" r:id="rId22"/>
    <p:sldId id="2696" r:id="rId23"/>
    <p:sldId id="2697" r:id="rId24"/>
    <p:sldId id="2694" r:id="rId25"/>
    <p:sldId id="2695" r:id="rId26"/>
    <p:sldId id="2698" r:id="rId27"/>
    <p:sldId id="2699" r:id="rId28"/>
  </p:sldIdLst>
  <p:sldSz cx="9906000" cy="6858000" type="A4"/>
  <p:notesSz cx="7559675" cy="106918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35" autoAdjust="0"/>
    <p:restoredTop sz="94660"/>
  </p:normalViewPr>
  <p:slideViewPr>
    <p:cSldViewPr snapToGrid="0">
      <p:cViewPr varScale="1">
        <p:scale>
          <a:sx n="81" d="100"/>
          <a:sy n="81" d="100"/>
        </p:scale>
        <p:origin x="12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DE2AC0-B098-427E-89A9-B2DAFBEA5CCD}" type="datetimeFigureOut">
              <a:rPr lang="ko-KR" altLang="en-US" smtClean="0"/>
              <a:t>2020-10-27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73163" y="1336675"/>
            <a:ext cx="521335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0D463-B154-46B4-8BA5-AAA74F5904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333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0D463-B154-46B4-8BA5-AAA74F590425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5303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0D463-B154-46B4-8BA5-AAA74F590425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6256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ko-KR" sz="18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345600" y="835200"/>
            <a:ext cx="8543520" cy="2638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ko-KR" sz="18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345600" y="835200"/>
            <a:ext cx="8543520" cy="26388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ko-KR" sz="2800" b="0" strike="noStrike" spc="-1">
              <a:solidFill>
                <a:srgbClr val="000000"/>
              </a:solidFill>
              <a:latin typeface="나눔고딕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ko-KR" sz="18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345600" y="835200"/>
            <a:ext cx="4169160" cy="26388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ko-KR" sz="2800" b="0" strike="noStrike" spc="-1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723560" y="835200"/>
            <a:ext cx="4169160" cy="26388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ko-KR" sz="2800" b="0" strike="noStrike" spc="-1">
              <a:solidFill>
                <a:srgbClr val="000000"/>
              </a:solidFill>
              <a:latin typeface="나눔고딕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ko-KR" sz="1800" b="0" strike="noStrike" spc="-1">
              <a:solidFill>
                <a:srgbClr val="000000"/>
              </a:solidFill>
              <a:latin typeface="맑은 고딕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495000" y="273600"/>
            <a:ext cx="89150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ko-KR" sz="18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345600" y="835200"/>
            <a:ext cx="4169160" cy="12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ko-KR" sz="2800" b="0" strike="noStrike" spc="-1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723560" y="835200"/>
            <a:ext cx="4169160" cy="26388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ko-KR" sz="2800" b="0" strike="noStrike" spc="-1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345600" y="2213640"/>
            <a:ext cx="4169160" cy="12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ko-KR" sz="2800" b="0" strike="noStrike" spc="-1">
              <a:solidFill>
                <a:srgbClr val="000000"/>
              </a:solidFill>
              <a:latin typeface="나눔고딕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ko-KR" sz="18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345600" y="835200"/>
            <a:ext cx="4169160" cy="26388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ko-KR" sz="2800" b="0" strike="noStrike" spc="-1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723560" y="835200"/>
            <a:ext cx="4169160" cy="12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ko-KR" sz="2800" b="0" strike="noStrike" spc="-1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723560" y="2213640"/>
            <a:ext cx="4169160" cy="12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ko-KR" sz="2800" b="0" strike="noStrike" spc="-1">
              <a:solidFill>
                <a:srgbClr val="000000"/>
              </a:solidFill>
              <a:latin typeface="나눔고딕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ko-KR" sz="18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345600" y="835200"/>
            <a:ext cx="4169160" cy="12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ko-KR" sz="2800" b="0" strike="noStrike" spc="-1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723560" y="835200"/>
            <a:ext cx="4169160" cy="12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ko-KR" sz="2800" b="0" strike="noStrike" spc="-1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345600" y="2213640"/>
            <a:ext cx="8543520" cy="12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ko-KR" sz="2800" b="0" strike="noStrike" spc="-1">
              <a:solidFill>
                <a:srgbClr val="000000"/>
              </a:solidFill>
              <a:latin typeface="나눔고딕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ko-KR" sz="18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345600" y="835200"/>
            <a:ext cx="8543520" cy="12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ko-KR" sz="2800" b="0" strike="noStrike" spc="-1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345600" y="2213640"/>
            <a:ext cx="8543520" cy="12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ko-KR" sz="2800" b="0" strike="noStrike" spc="-1">
              <a:solidFill>
                <a:srgbClr val="000000"/>
              </a:solidFill>
              <a:latin typeface="나눔고딕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ko-KR" sz="18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345600" y="835200"/>
            <a:ext cx="4169160" cy="12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ko-KR" sz="2800" b="0" strike="noStrike" spc="-1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723560" y="835200"/>
            <a:ext cx="4169160" cy="12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ko-KR" sz="2800" b="0" strike="noStrike" spc="-1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345600" y="2213640"/>
            <a:ext cx="4169160" cy="12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ko-KR" sz="2800" b="0" strike="noStrike" spc="-1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723560" y="2213640"/>
            <a:ext cx="4169160" cy="12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ko-KR" sz="2800" b="0" strike="noStrike" spc="-1">
              <a:solidFill>
                <a:srgbClr val="000000"/>
              </a:solidFill>
              <a:latin typeface="나눔고딕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ko-KR" sz="18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345600" y="835200"/>
            <a:ext cx="2750760" cy="12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ko-KR" sz="2800" b="0" strike="noStrike" spc="-1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3234240" y="835200"/>
            <a:ext cx="2750760" cy="12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ko-KR" sz="2800" b="0" strike="noStrike" spc="-1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6122880" y="835200"/>
            <a:ext cx="2750760" cy="12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ko-KR" sz="2800" b="0" strike="noStrike" spc="-1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345600" y="2213640"/>
            <a:ext cx="2750760" cy="12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ko-KR" sz="2800" b="0" strike="noStrike" spc="-1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body"/>
          </p:nvPr>
        </p:nvSpPr>
        <p:spPr>
          <a:xfrm>
            <a:off x="3234240" y="2213640"/>
            <a:ext cx="2750760" cy="12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ko-KR" sz="2800" b="0" strike="noStrike" spc="-1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body"/>
          </p:nvPr>
        </p:nvSpPr>
        <p:spPr>
          <a:xfrm>
            <a:off x="6122880" y="2213640"/>
            <a:ext cx="2750760" cy="12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ko-KR" sz="2800" b="0" strike="noStrike" spc="-1">
              <a:solidFill>
                <a:srgbClr val="000000"/>
              </a:solidFill>
              <a:latin typeface="나눔고딕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ko-KR" sz="18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ubTitle"/>
          </p:nvPr>
        </p:nvSpPr>
        <p:spPr>
          <a:xfrm>
            <a:off x="345600" y="835200"/>
            <a:ext cx="8543520" cy="2638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ko-KR" sz="18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345600" y="835200"/>
            <a:ext cx="8543520" cy="26388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ko-KR" sz="2800" b="0" strike="noStrike" spc="-1">
              <a:solidFill>
                <a:srgbClr val="000000"/>
              </a:solidFill>
              <a:latin typeface="나눔고딕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ko-KR" sz="18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345600" y="835200"/>
            <a:ext cx="4169160" cy="26388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ko-KR" sz="2800" b="0" strike="noStrike" spc="-1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723560" y="835200"/>
            <a:ext cx="4169160" cy="26388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ko-KR" sz="2800" b="0" strike="noStrike" spc="-1">
              <a:solidFill>
                <a:srgbClr val="000000"/>
              </a:solidFill>
              <a:latin typeface="나눔고딕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ko-KR" sz="1800" b="0" strike="noStrike" spc="-1">
              <a:solidFill>
                <a:srgbClr val="000000"/>
              </a:solidFill>
              <a:latin typeface="맑은 고딕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ubTitle"/>
          </p:nvPr>
        </p:nvSpPr>
        <p:spPr>
          <a:xfrm>
            <a:off x="495000" y="273600"/>
            <a:ext cx="89150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ko-KR" sz="18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345600" y="835200"/>
            <a:ext cx="4169160" cy="12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ko-KR" sz="2800" b="0" strike="noStrike" spc="-1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723560" y="835200"/>
            <a:ext cx="4169160" cy="26388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ko-KR" sz="2800" b="0" strike="noStrike" spc="-1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345600" y="2213640"/>
            <a:ext cx="4169160" cy="12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ko-KR" sz="2800" b="0" strike="noStrike" spc="-1">
              <a:solidFill>
                <a:srgbClr val="000000"/>
              </a:solidFill>
              <a:latin typeface="나눔고딕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ko-KR" sz="18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345600" y="835200"/>
            <a:ext cx="4169160" cy="26388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ko-KR" sz="2800" b="0" strike="noStrike" spc="-1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4723560" y="835200"/>
            <a:ext cx="4169160" cy="12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ko-KR" sz="2800" b="0" strike="noStrike" spc="-1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body"/>
          </p:nvPr>
        </p:nvSpPr>
        <p:spPr>
          <a:xfrm>
            <a:off x="4723560" y="2213640"/>
            <a:ext cx="4169160" cy="12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ko-KR" sz="2800" b="0" strike="noStrike" spc="-1">
              <a:solidFill>
                <a:srgbClr val="000000"/>
              </a:solidFill>
              <a:latin typeface="나눔고딕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ko-KR" sz="18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345600" y="835200"/>
            <a:ext cx="4169160" cy="12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ko-KR" sz="2800" b="0" strike="noStrike" spc="-1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723560" y="835200"/>
            <a:ext cx="4169160" cy="12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ko-KR" sz="2800" b="0" strike="noStrike" spc="-1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345600" y="2213640"/>
            <a:ext cx="8543520" cy="12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ko-KR" sz="2800" b="0" strike="noStrike" spc="-1">
              <a:solidFill>
                <a:srgbClr val="000000"/>
              </a:solidFill>
              <a:latin typeface="나눔고딕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ko-KR" sz="18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345600" y="835200"/>
            <a:ext cx="8543520" cy="12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ko-KR" sz="2800" b="0" strike="noStrike" spc="-1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345600" y="2213640"/>
            <a:ext cx="8543520" cy="12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ko-KR" sz="2800" b="0" strike="noStrike" spc="-1">
              <a:solidFill>
                <a:srgbClr val="000000"/>
              </a:solidFill>
              <a:latin typeface="나눔고딕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ko-KR" sz="18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345600" y="835200"/>
            <a:ext cx="4169160" cy="12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ko-KR" sz="2800" b="0" strike="noStrike" spc="-1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4723560" y="835200"/>
            <a:ext cx="4169160" cy="12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ko-KR" sz="2800" b="0" strike="noStrike" spc="-1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345600" y="2213640"/>
            <a:ext cx="4169160" cy="12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ko-KR" sz="2800" b="0" strike="noStrike" spc="-1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4723560" y="2213640"/>
            <a:ext cx="4169160" cy="12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ko-KR" sz="2800" b="0" strike="noStrike" spc="-1">
              <a:solidFill>
                <a:srgbClr val="000000"/>
              </a:solidFill>
              <a:latin typeface="나눔고딕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ko-KR" sz="18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345600" y="835200"/>
            <a:ext cx="2750760" cy="12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ko-KR" sz="2800" b="0" strike="noStrike" spc="-1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body"/>
          </p:nvPr>
        </p:nvSpPr>
        <p:spPr>
          <a:xfrm>
            <a:off x="3234240" y="835200"/>
            <a:ext cx="2750760" cy="12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ko-KR" sz="2800" b="0" strike="noStrike" spc="-1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body"/>
          </p:nvPr>
        </p:nvSpPr>
        <p:spPr>
          <a:xfrm>
            <a:off x="6122880" y="835200"/>
            <a:ext cx="2750760" cy="12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ko-KR" sz="2800" b="0" strike="noStrike" spc="-1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 type="body"/>
          </p:nvPr>
        </p:nvSpPr>
        <p:spPr>
          <a:xfrm>
            <a:off x="345600" y="2213640"/>
            <a:ext cx="2750760" cy="12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ko-KR" sz="2800" b="0" strike="noStrike" spc="-1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86" name="PlaceHolder 6"/>
          <p:cNvSpPr>
            <a:spLocks noGrp="1"/>
          </p:cNvSpPr>
          <p:nvPr>
            <p:ph type="body"/>
          </p:nvPr>
        </p:nvSpPr>
        <p:spPr>
          <a:xfrm>
            <a:off x="3234240" y="2213640"/>
            <a:ext cx="2750760" cy="12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ko-KR" sz="2800" b="0" strike="noStrike" spc="-1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87" name="PlaceHolder 7"/>
          <p:cNvSpPr>
            <a:spLocks noGrp="1"/>
          </p:cNvSpPr>
          <p:nvPr>
            <p:ph type="body"/>
          </p:nvPr>
        </p:nvSpPr>
        <p:spPr>
          <a:xfrm>
            <a:off x="6122880" y="2213640"/>
            <a:ext cx="2750760" cy="12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ko-KR" sz="2800" b="0" strike="noStrike" spc="-1">
              <a:solidFill>
                <a:srgbClr val="000000"/>
              </a:solidFill>
              <a:latin typeface="나눔고딕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01D11F-CC9C-4967-8F67-2EC9C0271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41A52FE-FDAA-4123-B6E6-D0A0060646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5600" y="835200"/>
            <a:ext cx="8543925" cy="2639024"/>
          </a:xfrm>
        </p:spPr>
        <p:txBody>
          <a:bodyPr>
            <a:noAutofit/>
          </a:bodyPr>
          <a:lstStyle>
            <a:lvl1pPr marL="93663" indent="-93663" algn="just" defTabSz="361950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rgbClr val="0070C0"/>
              </a:buClr>
              <a:buFont typeface="Wingdings" pitchFamily="2" charset="2"/>
              <a:buChar char="§"/>
              <a:defRPr kumimoji="1" lang="ko-KR" altLang="en-US" sz="1600" b="1" kern="0" dirty="0" smtClean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266700" indent="-85725" defTabSz="361950">
              <a:buFont typeface="Arial" panose="020B0604020202020204" pitchFamily="34" charset="0"/>
              <a:buChar char="•"/>
              <a:defRPr kumimoji="1" lang="ko-KR" altLang="en-US" sz="1400" kern="0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2pPr>
            <a:lvl3pPr marL="361950" indent="-95250" defTabSz="361950">
              <a:buFont typeface="나눔고딕" panose="020D0604000000000000" pitchFamily="50" charset="-127"/>
              <a:buChar char="-"/>
              <a:defRPr kumimoji="1" lang="ko-KR" altLang="en-US" sz="1400" kern="0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3pPr>
            <a:lvl4pPr marL="449263" indent="-87313" defTabSz="361950">
              <a:buFont typeface="맑은 고딕" panose="020B0503020000020004" pitchFamily="50" charset="-127"/>
              <a:buChar char="∙"/>
              <a:defRPr sz="1200"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 marL="630238" indent="-95250" defTabSz="361950">
              <a:defRPr sz="1100"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9" name="텍스트 개체 틀 5">
            <a:extLst>
              <a:ext uri="{FF2B5EF4-FFF2-40B4-BE49-F238E27FC236}">
                <a16:creationId xmlns:a16="http://schemas.microsoft.com/office/drawing/2014/main" id="{33AE2067-38A7-47E2-AC9E-F75D333CF8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600" y="3532187"/>
            <a:ext cx="8543925" cy="2639024"/>
          </a:xfrm>
        </p:spPr>
        <p:txBody>
          <a:bodyPr>
            <a:noAutofit/>
          </a:bodyPr>
          <a:lstStyle>
            <a:lvl1pPr marL="93663" indent="-93663" algn="just" defTabSz="361950" rtl="0" eaLnBrk="0" fontAlgn="base" latinLnBrk="1" hangingPunct="0">
              <a:spcBef>
                <a:spcPts val="300"/>
              </a:spcBef>
              <a:spcAft>
                <a:spcPct val="0"/>
              </a:spcAft>
              <a:buClr>
                <a:srgbClr val="0070C0"/>
              </a:buClr>
              <a:buFont typeface="Wingdings" pitchFamily="2" charset="2"/>
              <a:buChar char="§"/>
              <a:defRPr kumimoji="1" lang="ko-KR" altLang="en-US" sz="1600" b="1" kern="0" dirty="0" smtClean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266700" indent="-85725" defTabSz="361950">
              <a:defRPr kumimoji="1" lang="ko-KR" altLang="en-US" sz="1400" kern="0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2pPr>
            <a:lvl3pPr marL="361950" indent="-95250" defTabSz="361950">
              <a:buFont typeface="나눔고딕" panose="020D0604000000000000" pitchFamily="50" charset="-127"/>
              <a:buChar char="-"/>
              <a:defRPr kumimoji="1" lang="ko-KR" altLang="en-US" sz="1200" kern="0" dirty="0" smtClean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3pPr>
            <a:lvl4pPr marL="449263" indent="-87313" defTabSz="361950">
              <a:buFont typeface="맑은 고딕" panose="020B0503020000020004" pitchFamily="50" charset="-127"/>
              <a:buChar char="∙"/>
              <a:defRPr sz="1200"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 marL="630238" indent="-95250" defTabSz="361950">
              <a:defRPr sz="1100"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2" name="텍스트 개체 틀 5">
            <a:extLst>
              <a:ext uri="{FF2B5EF4-FFF2-40B4-BE49-F238E27FC236}">
                <a16:creationId xmlns:a16="http://schemas.microsoft.com/office/drawing/2014/main" id="{24701664-4A17-4AAD-9D8C-826C77218DC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1396" y="3532187"/>
            <a:ext cx="4340529" cy="2791424"/>
          </a:xfrm>
        </p:spPr>
        <p:txBody>
          <a:bodyPr>
            <a:noAutofit/>
          </a:bodyPr>
          <a:lstStyle>
            <a:lvl1pPr marL="93663" indent="-93663" algn="just" defTabSz="361950" rtl="0" eaLnBrk="0" fontAlgn="base" latinLnBrk="1" hangingPunct="0">
              <a:spcBef>
                <a:spcPts val="30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defRPr kumimoji="1" lang="ko-KR" altLang="en-US" sz="1200" b="1" kern="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180975" indent="-95250" defTabSz="361950">
              <a:buFont typeface="나눔고딕" panose="020D0604000000000000" pitchFamily="50" charset="-127"/>
              <a:buChar char="-"/>
              <a:defRPr kumimoji="1" lang="ko-KR" altLang="en-US" sz="1200" kern="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2pPr>
            <a:lvl3pPr marL="266700" indent="-85725" defTabSz="361950">
              <a:buFont typeface="나눔고딕" panose="020D0604000000000000" pitchFamily="50" charset="-127"/>
              <a:buChar char="-"/>
              <a:defRPr kumimoji="1" lang="ko-KR" altLang="en-US" sz="1200" kern="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3pPr>
            <a:lvl4pPr marL="449263" indent="-87313">
              <a:buFont typeface="맑은 고딕" panose="020B0503020000020004" pitchFamily="50" charset="-127"/>
              <a:buChar char="∙"/>
              <a:defRPr sz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 marL="630238" indent="-95250">
              <a:defRPr sz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</p:spTree>
    <p:extLst>
      <p:ext uri="{BB962C8B-B14F-4D97-AF65-F5344CB8AC3E}">
        <p14:creationId xmlns:p14="http://schemas.microsoft.com/office/powerpoint/2010/main" val="440677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4"/>
          <p:cNvPicPr/>
          <p:nvPr/>
        </p:nvPicPr>
        <p:blipFill>
          <a:blip r:embed="rId14"/>
          <a:stretch/>
        </p:blipFill>
        <p:spPr>
          <a:xfrm>
            <a:off x="0" y="0"/>
            <a:ext cx="9905760" cy="6857640"/>
          </a:xfrm>
          <a:prstGeom prst="rect">
            <a:avLst/>
          </a:prstGeom>
          <a:ln>
            <a:noFill/>
          </a:ln>
        </p:spPr>
      </p:pic>
      <p:sp>
        <p:nvSpPr>
          <p:cNvPr id="8" name="Line 1"/>
          <p:cNvSpPr/>
          <p:nvPr/>
        </p:nvSpPr>
        <p:spPr>
          <a:xfrm>
            <a:off x="144360" y="620640"/>
            <a:ext cx="9539280" cy="1440"/>
          </a:xfrm>
          <a:prstGeom prst="line">
            <a:avLst/>
          </a:prstGeom>
          <a:ln w="25560">
            <a:solidFill>
              <a:srgbClr val="188DD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" name="CustomShape 2"/>
          <p:cNvSpPr/>
          <p:nvPr/>
        </p:nvSpPr>
        <p:spPr>
          <a:xfrm>
            <a:off x="4011480" y="6585120"/>
            <a:ext cx="1882440" cy="2282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fld id="{256FAD2A-2A08-4431-9425-4D57791A5B60}" type="slidenum">
              <a:rPr lang="en-US" sz="900" b="0" strike="noStrike" spc="-1">
                <a:solidFill>
                  <a:srgbClr val="000000"/>
                </a:solidFill>
                <a:latin typeface="나눔고딕"/>
                <a:ea typeface="나눔고딕"/>
              </a:rPr>
              <a:t>‹#›</a:t>
            </a:fld>
            <a:endParaRPr lang="en-US" sz="900" b="0" strike="noStrike" spc="-1">
              <a:latin typeface="Arial"/>
            </a:endParaRPr>
          </a:p>
        </p:txBody>
      </p:sp>
      <p:pic>
        <p:nvPicPr>
          <p:cNvPr id="3" name="그림 10"/>
          <p:cNvPicPr/>
          <p:nvPr/>
        </p:nvPicPr>
        <p:blipFill>
          <a:blip r:embed="rId15"/>
          <a:stretch/>
        </p:blipFill>
        <p:spPr>
          <a:xfrm>
            <a:off x="9225000" y="6700680"/>
            <a:ext cx="655200" cy="126720"/>
          </a:xfrm>
          <a:prstGeom prst="rect">
            <a:avLst/>
          </a:prstGeom>
          <a:ln>
            <a:noFill/>
          </a:ln>
        </p:spPr>
      </p:pic>
      <p:pic>
        <p:nvPicPr>
          <p:cNvPr id="4" name="Picture 2"/>
          <p:cNvPicPr/>
          <p:nvPr/>
        </p:nvPicPr>
        <p:blipFill>
          <a:blip r:embed="rId16"/>
          <a:srcRect t="9867"/>
          <a:stretch/>
        </p:blipFill>
        <p:spPr>
          <a:xfrm>
            <a:off x="-15480" y="0"/>
            <a:ext cx="9920880" cy="6857640"/>
          </a:xfrm>
          <a:prstGeom prst="rect">
            <a:avLst/>
          </a:prstGeom>
          <a:ln>
            <a:noFill/>
          </a:ln>
        </p:spPr>
      </p:pic>
      <p:sp>
        <p:nvSpPr>
          <p:cNvPr id="5" name="PlaceHolder 3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ko-KR" sz="1800" b="0" strike="noStrike" spc="-1">
                <a:solidFill>
                  <a:srgbClr val="000000"/>
                </a:solidFill>
                <a:latin typeface="맑은 고딕"/>
              </a:rPr>
              <a:t>Click to edit the title text format</a:t>
            </a:r>
          </a:p>
        </p:txBody>
      </p:sp>
      <p:sp>
        <p:nvSpPr>
          <p:cNvPr id="6" name="PlaceHolder 4"/>
          <p:cNvSpPr>
            <a:spLocks noGrp="1"/>
          </p:cNvSpPr>
          <p:nvPr>
            <p:ph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2800" b="0" strike="noStrike" spc="-1">
                <a:solidFill>
                  <a:srgbClr val="000000"/>
                </a:solidFill>
                <a:latin typeface="나눔고딕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ko-KR" sz="2000" b="0" strike="noStrike" spc="-1">
                <a:solidFill>
                  <a:srgbClr val="000000"/>
                </a:solidFill>
                <a:latin typeface="나눔고딕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1800" b="0" strike="noStrike" spc="-1">
                <a:solidFill>
                  <a:srgbClr val="000000"/>
                </a:solidFill>
                <a:latin typeface="나눔고딕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ko-KR" sz="1800" b="0" strike="noStrike" spc="-1">
                <a:solidFill>
                  <a:srgbClr val="000000"/>
                </a:solidFill>
                <a:latin typeface="나눔고딕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2000" b="0" strike="noStrike" spc="-1">
                <a:solidFill>
                  <a:srgbClr val="000000"/>
                </a:solidFill>
                <a:latin typeface="나눔고딕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2000" b="0" strike="noStrike" spc="-1">
                <a:solidFill>
                  <a:srgbClr val="000000"/>
                </a:solidFill>
                <a:latin typeface="나눔고딕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2000" b="0" strike="noStrike" spc="-1">
                <a:solidFill>
                  <a:srgbClr val="000000"/>
                </a:solidFill>
                <a:latin typeface="나눔고딕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그림 4"/>
          <p:cNvPicPr/>
          <p:nvPr/>
        </p:nvPicPr>
        <p:blipFill>
          <a:blip r:embed="rId15"/>
          <a:stretch/>
        </p:blipFill>
        <p:spPr>
          <a:xfrm>
            <a:off x="0" y="0"/>
            <a:ext cx="9905760" cy="6857640"/>
          </a:xfrm>
          <a:prstGeom prst="rect">
            <a:avLst/>
          </a:prstGeom>
          <a:ln>
            <a:noFill/>
          </a:ln>
        </p:spPr>
      </p:pic>
      <p:sp>
        <p:nvSpPr>
          <p:cNvPr id="44" name="Line 1"/>
          <p:cNvSpPr/>
          <p:nvPr/>
        </p:nvSpPr>
        <p:spPr>
          <a:xfrm>
            <a:off x="144360" y="620640"/>
            <a:ext cx="9539280" cy="1440"/>
          </a:xfrm>
          <a:prstGeom prst="line">
            <a:avLst/>
          </a:prstGeom>
          <a:ln w="25560">
            <a:solidFill>
              <a:srgbClr val="188DD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" name="CustomShape 2"/>
          <p:cNvSpPr/>
          <p:nvPr/>
        </p:nvSpPr>
        <p:spPr>
          <a:xfrm>
            <a:off x="4011480" y="6585120"/>
            <a:ext cx="1882440" cy="2282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fld id="{F692B8D3-710C-46E3-B254-CD6ECD5FB62E}" type="slidenum">
              <a:rPr lang="en-US" sz="900" b="0" strike="noStrike" spc="-1">
                <a:solidFill>
                  <a:srgbClr val="000000"/>
                </a:solidFill>
                <a:latin typeface="나눔고딕"/>
                <a:ea typeface="나눔고딕"/>
              </a:rPr>
              <a:t>‹#›</a:t>
            </a:fld>
            <a:endParaRPr lang="en-US" sz="900" b="0" strike="noStrike" spc="-1">
              <a:latin typeface="Arial"/>
            </a:endParaRPr>
          </a:p>
        </p:txBody>
      </p:sp>
      <p:pic>
        <p:nvPicPr>
          <p:cNvPr id="46" name="그림 10"/>
          <p:cNvPicPr/>
          <p:nvPr/>
        </p:nvPicPr>
        <p:blipFill>
          <a:blip r:embed="rId16"/>
          <a:stretch/>
        </p:blipFill>
        <p:spPr>
          <a:xfrm>
            <a:off x="9225000" y="6700680"/>
            <a:ext cx="655200" cy="126720"/>
          </a:xfrm>
          <a:prstGeom prst="rect">
            <a:avLst/>
          </a:prstGeom>
          <a:ln>
            <a:noFill/>
          </a:ln>
        </p:spPr>
      </p:pic>
      <p:sp>
        <p:nvSpPr>
          <p:cNvPr id="47" name="PlaceHolder 3"/>
          <p:cNvSpPr>
            <a:spLocks noGrp="1"/>
          </p:cNvSpPr>
          <p:nvPr>
            <p:ph type="ftr"/>
          </p:nvPr>
        </p:nvSpPr>
        <p:spPr>
          <a:xfrm>
            <a:off x="3281400" y="6356520"/>
            <a:ext cx="3342960" cy="364680"/>
          </a:xfrm>
          <a:prstGeom prst="rect">
            <a:avLst/>
          </a:prstGeom>
        </p:spPr>
        <p:txBody>
          <a:bodyPr anchor="ctr"/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body"/>
          </p:nvPr>
        </p:nvSpPr>
        <p:spPr>
          <a:xfrm>
            <a:off x="345600" y="835200"/>
            <a:ext cx="8543520" cy="2638800"/>
          </a:xfrm>
          <a:prstGeom prst="rect">
            <a:avLst/>
          </a:prstGeom>
        </p:spPr>
        <p:txBody>
          <a:bodyPr/>
          <a:lstStyle/>
          <a:p>
            <a:pPr marL="432000" indent="-324000" algn="just">
              <a:lnSpc>
                <a:spcPct val="90000"/>
              </a:lnSpc>
              <a:spcBef>
                <a:spcPts val="3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1600" b="1" strike="noStrike" spc="-1">
                <a:solidFill>
                  <a:srgbClr val="0070C0"/>
                </a:solidFill>
                <a:latin typeface="나눔고딕"/>
                <a:ea typeface="나눔고딕"/>
              </a:rPr>
              <a:t>마스터 텍스트 스타일 편집</a:t>
            </a:r>
            <a:endParaRPr lang="ko-KR" sz="1600" b="0" strike="noStrike" spc="-1">
              <a:solidFill>
                <a:srgbClr val="000000"/>
              </a:solidFill>
              <a:latin typeface="나눔고딕"/>
            </a:endParaRPr>
          </a:p>
          <a:p>
            <a:pPr marL="864000" lvl="1" indent="-324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ko-KR" sz="1400" b="0" strike="noStrike" spc="-1">
                <a:solidFill>
                  <a:srgbClr val="000000"/>
                </a:solidFill>
                <a:latin typeface="나눔고딕"/>
                <a:ea typeface="나눔고딕"/>
              </a:rPr>
              <a:t>둘째 수준</a:t>
            </a:r>
            <a:endParaRPr lang="ko-KR" sz="1400" b="0" strike="noStrike" spc="-1">
              <a:solidFill>
                <a:srgbClr val="000000"/>
              </a:solidFill>
              <a:latin typeface="나눔고딕"/>
            </a:endParaRPr>
          </a:p>
          <a:p>
            <a:pPr marL="1296000" lvl="2" indent="-288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1400" b="0" strike="noStrike" spc="-1">
                <a:solidFill>
                  <a:srgbClr val="000000"/>
                </a:solidFill>
                <a:latin typeface="나눔고딕"/>
                <a:ea typeface="나눔고딕"/>
              </a:rPr>
              <a:t>셋째 수준</a:t>
            </a:r>
            <a:endParaRPr lang="ko-KR" sz="1400" b="0" strike="noStrike" spc="-1">
              <a:solidFill>
                <a:srgbClr val="000000"/>
              </a:solidFill>
              <a:latin typeface="나눔고딕"/>
            </a:endParaRPr>
          </a:p>
          <a:p>
            <a:pPr marL="1728000" lvl="3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ko-KR" sz="1200" b="0" strike="noStrike" spc="-1">
                <a:solidFill>
                  <a:srgbClr val="000000"/>
                </a:solidFill>
                <a:latin typeface="나눔고딕"/>
                <a:ea typeface="나눔고딕"/>
              </a:rPr>
              <a:t>넷째 수준</a:t>
            </a:r>
            <a:endParaRPr lang="ko-KR" sz="1200" b="0" strike="noStrike" spc="-1">
              <a:solidFill>
                <a:srgbClr val="000000"/>
              </a:solidFill>
              <a:latin typeface="나눔고딕"/>
            </a:endParaRPr>
          </a:p>
          <a:p>
            <a:pPr marL="2160000" lvl="4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1100" b="0" strike="noStrike" spc="-1">
                <a:solidFill>
                  <a:srgbClr val="000000"/>
                </a:solidFill>
                <a:latin typeface="나눔고딕"/>
                <a:ea typeface="나눔고딕"/>
              </a:rPr>
              <a:t>다섯째 수준</a:t>
            </a:r>
            <a:endParaRPr lang="ko-KR" sz="1100" b="0" strike="noStrike" spc="-1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345600" y="3532320"/>
            <a:ext cx="8543520" cy="2638800"/>
          </a:xfrm>
          <a:prstGeom prst="rect">
            <a:avLst/>
          </a:prstGeom>
        </p:spPr>
        <p:txBody>
          <a:bodyPr/>
          <a:lstStyle/>
          <a:p>
            <a:pPr marL="93600" indent="-93240" algn="just">
              <a:lnSpc>
                <a:spcPct val="90000"/>
              </a:lnSpc>
              <a:spcBef>
                <a:spcPts val="300"/>
              </a:spcBef>
              <a:buClr>
                <a:srgbClr val="0070C0"/>
              </a:buClr>
              <a:buFont typeface="Wingdings" charset="2"/>
              <a:buChar char=""/>
            </a:pPr>
            <a:r>
              <a:rPr lang="ko-KR" sz="1600" b="1" strike="noStrike" spc="-1">
                <a:solidFill>
                  <a:srgbClr val="0070C0"/>
                </a:solidFill>
                <a:latin typeface="나눔고딕"/>
                <a:ea typeface="나눔고딕"/>
              </a:rPr>
              <a:t>마스터 텍스트 스타일 편집</a:t>
            </a:r>
            <a:endParaRPr lang="ko-KR" sz="1600" b="0" strike="noStrike" spc="-1">
              <a:solidFill>
                <a:srgbClr val="000000"/>
              </a:solidFill>
              <a:latin typeface="나눔고딕"/>
            </a:endParaRPr>
          </a:p>
          <a:p>
            <a:pPr marL="266760" lvl="1" indent="-853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400" b="0" strike="noStrike" spc="-1">
                <a:solidFill>
                  <a:srgbClr val="000000"/>
                </a:solidFill>
                <a:latin typeface="나눔고딕"/>
                <a:ea typeface="나눔고딕"/>
              </a:rPr>
              <a:t>둘째 수준</a:t>
            </a:r>
            <a:endParaRPr lang="ko-KR" sz="1400" b="0" strike="noStrike" spc="-1">
              <a:solidFill>
                <a:srgbClr val="000000"/>
              </a:solidFill>
              <a:latin typeface="나눔고딕"/>
            </a:endParaRPr>
          </a:p>
          <a:p>
            <a:pPr marL="361800" lvl="2" indent="-950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나눔고딕"/>
              <a:buChar char="-"/>
            </a:pPr>
            <a:r>
              <a:rPr lang="ko-KR" sz="1200" b="0" strike="noStrike" spc="-1">
                <a:solidFill>
                  <a:srgbClr val="000000"/>
                </a:solidFill>
                <a:latin typeface="나눔고딕"/>
                <a:ea typeface="나눔고딕"/>
              </a:rPr>
              <a:t>셋째 수준</a:t>
            </a:r>
            <a:endParaRPr lang="ko-KR" sz="1200" b="0" strike="noStrike" spc="-1">
              <a:solidFill>
                <a:srgbClr val="000000"/>
              </a:solidFill>
              <a:latin typeface="나눔고딕"/>
            </a:endParaRPr>
          </a:p>
          <a:p>
            <a:pPr marL="449280" lvl="3" indent="-871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맑은 고딕"/>
              <a:buChar char="∙"/>
            </a:pPr>
            <a:r>
              <a:rPr lang="ko-KR" sz="1200" b="0" strike="noStrike" spc="-1">
                <a:solidFill>
                  <a:srgbClr val="000000"/>
                </a:solidFill>
                <a:latin typeface="나눔고딕"/>
                <a:ea typeface="나눔고딕"/>
              </a:rPr>
              <a:t>넷째 수준</a:t>
            </a:r>
            <a:endParaRPr lang="ko-KR" sz="1200" b="0" strike="noStrike" spc="-1">
              <a:solidFill>
                <a:srgbClr val="000000"/>
              </a:solidFill>
              <a:latin typeface="나눔고딕"/>
            </a:endParaRPr>
          </a:p>
          <a:p>
            <a:pPr marL="630360" lvl="4" indent="-950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ko-KR" sz="1100" b="0" strike="noStrike" spc="-1">
                <a:solidFill>
                  <a:srgbClr val="000000"/>
                </a:solidFill>
                <a:latin typeface="나눔고딕"/>
                <a:ea typeface="나눔고딕"/>
              </a:rPr>
              <a:t>다섯째 수준</a:t>
            </a:r>
            <a:endParaRPr lang="ko-KR" sz="1100" b="0" strike="noStrike" spc="-1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body"/>
          </p:nvPr>
        </p:nvSpPr>
        <p:spPr>
          <a:xfrm>
            <a:off x="4701240" y="3532320"/>
            <a:ext cx="4340160" cy="2791080"/>
          </a:xfrm>
          <a:prstGeom prst="rect">
            <a:avLst/>
          </a:prstGeom>
        </p:spPr>
        <p:txBody>
          <a:bodyPr/>
          <a:lstStyle/>
          <a:p>
            <a:pPr marL="93600" indent="-93240" algn="just">
              <a:lnSpc>
                <a:spcPct val="9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lang="ko-KR" sz="1200" b="1" strike="noStrike" spc="-1">
                <a:solidFill>
                  <a:srgbClr val="000000"/>
                </a:solidFill>
                <a:latin typeface="나눔고딕"/>
                <a:ea typeface="나눔고딕"/>
              </a:rPr>
              <a:t>마스터 텍스트 스타일 편집</a:t>
            </a:r>
            <a:endParaRPr lang="ko-KR" sz="1200" b="0" strike="noStrike" spc="-1">
              <a:solidFill>
                <a:srgbClr val="000000"/>
              </a:solidFill>
              <a:latin typeface="나눔고딕"/>
            </a:endParaRPr>
          </a:p>
          <a:p>
            <a:pPr marL="181080" lvl="1" indent="-950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나눔고딕"/>
              <a:buChar char="-"/>
            </a:pPr>
            <a:r>
              <a:rPr lang="ko-KR" sz="1200" b="0" strike="noStrike" spc="-1">
                <a:solidFill>
                  <a:srgbClr val="000000"/>
                </a:solidFill>
                <a:latin typeface="나눔고딕"/>
                <a:ea typeface="나눔고딕"/>
              </a:rPr>
              <a:t>둘째 수준</a:t>
            </a:r>
            <a:endParaRPr lang="ko-KR" sz="1200" b="0" strike="noStrike" spc="-1">
              <a:solidFill>
                <a:srgbClr val="000000"/>
              </a:solidFill>
              <a:latin typeface="나눔고딕"/>
            </a:endParaRPr>
          </a:p>
          <a:p>
            <a:pPr marL="266760" lvl="2" indent="-853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나눔고딕"/>
              <a:buChar char="-"/>
            </a:pPr>
            <a:r>
              <a:rPr lang="ko-KR" sz="1200" b="0" strike="noStrike" spc="-1">
                <a:solidFill>
                  <a:srgbClr val="000000"/>
                </a:solidFill>
                <a:latin typeface="나눔고딕"/>
                <a:ea typeface="나눔고딕"/>
              </a:rPr>
              <a:t>셋째 수준</a:t>
            </a:r>
            <a:endParaRPr lang="ko-KR" sz="1200" b="0" strike="noStrike" spc="-1">
              <a:solidFill>
                <a:srgbClr val="000000"/>
              </a:solidFill>
              <a:latin typeface="나눔고딕"/>
            </a:endParaRPr>
          </a:p>
        </p:txBody>
      </p:sp>
      <p:sp>
        <p:nvSpPr>
          <p:cNvPr id="51" name="PlaceHolder 7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ko-KR" sz="1800" b="0" strike="noStrike" spc="-1">
                <a:solidFill>
                  <a:srgbClr val="000000"/>
                </a:solidFill>
                <a:latin typeface="맑은 고딕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Picture 4"/>
          <p:cNvPicPr/>
          <p:nvPr/>
        </p:nvPicPr>
        <p:blipFill>
          <a:blip r:embed="rId2"/>
          <a:stretch/>
        </p:blipFill>
        <p:spPr>
          <a:xfrm>
            <a:off x="0" y="0"/>
            <a:ext cx="9905760" cy="2205000"/>
          </a:xfrm>
          <a:prstGeom prst="rect">
            <a:avLst/>
          </a:prstGeom>
          <a:ln>
            <a:noFill/>
          </a:ln>
        </p:spPr>
      </p:pic>
      <p:sp>
        <p:nvSpPr>
          <p:cNvPr id="89" name="CustomShape 1"/>
          <p:cNvSpPr/>
          <p:nvPr/>
        </p:nvSpPr>
        <p:spPr>
          <a:xfrm>
            <a:off x="1601859" y="2929976"/>
            <a:ext cx="6702282" cy="77411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endParaRPr lang="en-US" sz="3600" b="1" strike="noStrike" spc="-1" dirty="0">
              <a:latin typeface="Arial"/>
            </a:endParaRPr>
          </a:p>
        </p:txBody>
      </p:sp>
      <p:sp>
        <p:nvSpPr>
          <p:cNvPr id="90" name="CustomShape 2"/>
          <p:cNvSpPr/>
          <p:nvPr/>
        </p:nvSpPr>
        <p:spPr>
          <a:xfrm>
            <a:off x="3890880" y="5701265"/>
            <a:ext cx="2124000" cy="638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2000" strike="noStrike" spc="-1" dirty="0" err="1">
                <a:solidFill>
                  <a:srgbClr val="000000"/>
                </a:solidFill>
                <a:latin typeface="맑은 고딕"/>
              </a:rPr>
              <a:t>정호진</a:t>
            </a:r>
            <a:r>
              <a:rPr lang="en-US" sz="2000" strike="noStrike" spc="-1" dirty="0">
                <a:solidFill>
                  <a:srgbClr val="000000"/>
                </a:solidFill>
                <a:latin typeface="맑은 고딕"/>
              </a:rPr>
              <a:t> 박미현 </a:t>
            </a:r>
            <a:endParaRPr lang="en-US" sz="2000" strike="noStrike" spc="-1" dirty="0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9AC7A9-0EEC-4705-8782-AF09A1F5DFE9}"/>
              </a:ext>
            </a:extLst>
          </p:cNvPr>
          <p:cNvSpPr txBox="1"/>
          <p:nvPr/>
        </p:nvSpPr>
        <p:spPr>
          <a:xfrm>
            <a:off x="1489008" y="2919265"/>
            <a:ext cx="69277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dirty="0"/>
              <a:t>공원이 발달한 곳의 주택가격 </a:t>
            </a:r>
            <a:r>
              <a:rPr lang="ko-KR" altLang="en-US" sz="4800" b="1"/>
              <a:t>형성은 어떨까</a:t>
            </a:r>
            <a:r>
              <a:rPr lang="en-US" altLang="ko-KR" sz="4800" b="1" dirty="0"/>
              <a:t>?</a:t>
            </a:r>
            <a:endParaRPr lang="ko-KR" altLang="en-US" sz="4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CustomShape 1"/>
          <p:cNvSpPr/>
          <p:nvPr/>
        </p:nvSpPr>
        <p:spPr>
          <a:xfrm>
            <a:off x="5988600" y="215640"/>
            <a:ext cx="3723120" cy="27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en-US" sz="1600" b="0" i="1" strike="noStrike" spc="-1">
                <a:solidFill>
                  <a:srgbClr val="002060"/>
                </a:solidFill>
                <a:latin typeface="HY견고딕"/>
                <a:ea typeface="HY견고딕"/>
              </a:rPr>
              <a:t>종합 실습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94" name="CustomShape 3"/>
          <p:cNvSpPr/>
          <p:nvPr/>
        </p:nvSpPr>
        <p:spPr>
          <a:xfrm>
            <a:off x="526917" y="2681112"/>
            <a:ext cx="9015120" cy="153267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endParaRPr lang="en-US" sz="1800" b="1" strike="noStrike" spc="-1" dirty="0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1600" strike="noStrike" spc="-1" dirty="0" err="1">
                <a:solidFill>
                  <a:srgbClr val="000000"/>
                </a:solidFill>
                <a:latin typeface="+mj-lt"/>
              </a:rPr>
              <a:t>보스턴의</a:t>
            </a:r>
            <a:r>
              <a:rPr lang="en-US" sz="1600" strike="noStrike" spc="-1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strike="noStrike" spc="-1" dirty="0" err="1">
                <a:solidFill>
                  <a:srgbClr val="000000"/>
                </a:solidFill>
                <a:latin typeface="+mj-lt"/>
              </a:rPr>
              <a:t>주거</a:t>
            </a:r>
            <a:r>
              <a:rPr lang="en-US" sz="1600" strike="noStrike" spc="-1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strike="noStrike" spc="-1" dirty="0" err="1">
                <a:solidFill>
                  <a:srgbClr val="000000"/>
                </a:solidFill>
                <a:latin typeface="+mj-lt"/>
              </a:rPr>
              <a:t>비용은</a:t>
            </a:r>
            <a:r>
              <a:rPr lang="en-US" sz="1600" strike="noStrike" spc="-1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strike="noStrike" spc="-1" dirty="0" err="1">
                <a:solidFill>
                  <a:srgbClr val="000000"/>
                </a:solidFill>
                <a:latin typeface="+mj-lt"/>
              </a:rPr>
              <a:t>높기로</a:t>
            </a:r>
            <a:r>
              <a:rPr lang="en-US" sz="1600" strike="noStrike" spc="-1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strike="noStrike" spc="-1" dirty="0" err="1">
                <a:solidFill>
                  <a:srgbClr val="000000"/>
                </a:solidFill>
                <a:latin typeface="+mj-lt"/>
              </a:rPr>
              <a:t>유명하다</a:t>
            </a:r>
            <a:r>
              <a:rPr lang="en-US" sz="1600" strike="noStrike" spc="-1" dirty="0">
                <a:solidFill>
                  <a:srgbClr val="000000"/>
                </a:solidFill>
                <a:latin typeface="+mj-lt"/>
              </a:rPr>
              <a:t>. </a:t>
            </a:r>
            <a:r>
              <a:rPr lang="en-US" sz="1600" strike="noStrike" spc="-1" dirty="0" err="1">
                <a:solidFill>
                  <a:srgbClr val="000000"/>
                </a:solidFill>
                <a:latin typeface="+mj-lt"/>
              </a:rPr>
              <a:t>주택</a:t>
            </a:r>
            <a:r>
              <a:rPr lang="en-US" sz="1600" strike="noStrike" spc="-1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strike="noStrike" spc="-1" dirty="0" err="1">
                <a:solidFill>
                  <a:srgbClr val="000000"/>
                </a:solidFill>
                <a:latin typeface="+mj-lt"/>
              </a:rPr>
              <a:t>가격</a:t>
            </a:r>
            <a:r>
              <a:rPr lang="en-US" sz="1600" strike="noStrike" spc="-1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strike="noStrike" spc="-1" dirty="0" err="1">
                <a:solidFill>
                  <a:srgbClr val="000000"/>
                </a:solidFill>
                <a:latin typeface="+mj-lt"/>
              </a:rPr>
              <a:t>상승에</a:t>
            </a:r>
            <a:r>
              <a:rPr lang="en-US" sz="1600" strike="noStrike" spc="-1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strike="noStrike" spc="-1" dirty="0" err="1">
                <a:solidFill>
                  <a:srgbClr val="000000"/>
                </a:solidFill>
                <a:latin typeface="+mj-lt"/>
              </a:rPr>
              <a:t>영향을</a:t>
            </a:r>
            <a:r>
              <a:rPr lang="en-US" sz="1600" strike="noStrike" spc="-1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strike="noStrike" spc="-1" dirty="0" err="1">
                <a:solidFill>
                  <a:srgbClr val="000000"/>
                </a:solidFill>
                <a:latin typeface="+mj-lt"/>
              </a:rPr>
              <a:t>미치는</a:t>
            </a:r>
            <a:r>
              <a:rPr lang="en-US" sz="1600" strike="noStrike" spc="-1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strike="noStrike" spc="-1" dirty="0" err="1">
                <a:solidFill>
                  <a:srgbClr val="000000"/>
                </a:solidFill>
                <a:latin typeface="+mj-lt"/>
              </a:rPr>
              <a:t>요인이</a:t>
            </a:r>
            <a:r>
              <a:rPr lang="en-US" sz="1600" strike="noStrike" spc="-1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strike="noStrike" spc="-1" dirty="0" err="1">
                <a:solidFill>
                  <a:srgbClr val="000000"/>
                </a:solidFill>
                <a:latin typeface="+mj-lt"/>
              </a:rPr>
              <a:t>무엇인지</a:t>
            </a:r>
            <a:r>
              <a:rPr lang="en-US" sz="1600" strike="noStrike" spc="-1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strike="noStrike" spc="-1" dirty="0" err="1">
                <a:solidFill>
                  <a:srgbClr val="000000"/>
                </a:solidFill>
                <a:latin typeface="+mj-lt"/>
              </a:rPr>
              <a:t>파악하기</a:t>
            </a:r>
            <a:r>
              <a:rPr lang="en-US" sz="1600" strike="noStrike" spc="-1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strike="noStrike" spc="-1" dirty="0" err="1">
                <a:solidFill>
                  <a:srgbClr val="000000"/>
                </a:solidFill>
                <a:latin typeface="+mj-lt"/>
              </a:rPr>
              <a:t>위해</a:t>
            </a:r>
            <a:r>
              <a:rPr lang="en-US" sz="1600" strike="noStrike" spc="-1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strike="noStrike" spc="-1" dirty="0" err="1">
                <a:solidFill>
                  <a:srgbClr val="000000"/>
                </a:solidFill>
                <a:latin typeface="+mj-lt"/>
              </a:rPr>
              <a:t>여러</a:t>
            </a:r>
            <a:r>
              <a:rPr lang="en-US" sz="1600" strike="noStrike" spc="-1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strike="noStrike" spc="-1" dirty="0" err="1">
                <a:solidFill>
                  <a:srgbClr val="000000"/>
                </a:solidFill>
                <a:latin typeface="+mj-lt"/>
              </a:rPr>
              <a:t>설명변수를</a:t>
            </a:r>
            <a:r>
              <a:rPr lang="en-US" sz="1600" strike="noStrike" spc="-1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strike="noStrike" spc="-1" dirty="0" err="1">
                <a:solidFill>
                  <a:srgbClr val="000000"/>
                </a:solidFill>
                <a:latin typeface="+mj-lt"/>
              </a:rPr>
              <a:t>설정하고</a:t>
            </a:r>
            <a:r>
              <a:rPr lang="en-US" sz="1600" strike="noStrike" spc="-1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strike="noStrike" spc="-1" dirty="0" err="1">
                <a:solidFill>
                  <a:srgbClr val="000000"/>
                </a:solidFill>
                <a:latin typeface="+mj-lt"/>
              </a:rPr>
              <a:t>근거에</a:t>
            </a:r>
            <a:r>
              <a:rPr lang="en-US" sz="1600" strike="noStrike" spc="-1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strike="noStrike" spc="-1" dirty="0" err="1">
                <a:solidFill>
                  <a:srgbClr val="000000"/>
                </a:solidFill>
                <a:latin typeface="+mj-lt"/>
              </a:rPr>
              <a:t>기반하여</a:t>
            </a:r>
            <a:r>
              <a:rPr lang="en-US" sz="1600" strike="noStrike" spc="-1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strike="noStrike" spc="-1" dirty="0" err="1">
                <a:solidFill>
                  <a:srgbClr val="000000"/>
                </a:solidFill>
                <a:latin typeface="+mj-lt"/>
              </a:rPr>
              <a:t>가설을</a:t>
            </a:r>
            <a:r>
              <a:rPr lang="en-US" sz="1600" strike="noStrike" spc="-1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strike="noStrike" spc="-1" dirty="0" err="1">
                <a:solidFill>
                  <a:srgbClr val="000000"/>
                </a:solidFill>
                <a:latin typeface="+mj-lt"/>
              </a:rPr>
              <a:t>세웠다</a:t>
            </a:r>
            <a:r>
              <a:rPr lang="en-US" sz="1600" strike="noStrike" spc="-1" dirty="0">
                <a:solidFill>
                  <a:srgbClr val="000000"/>
                </a:solidFill>
                <a:latin typeface="+mj-lt"/>
              </a:rPr>
              <a:t>. </a:t>
            </a:r>
            <a:r>
              <a:rPr lang="en-US" sz="1600" strike="noStrike" spc="-1" dirty="0" err="1">
                <a:solidFill>
                  <a:srgbClr val="000000"/>
                </a:solidFill>
                <a:latin typeface="+mj-lt"/>
              </a:rPr>
              <a:t>어떠한</a:t>
            </a:r>
            <a:r>
              <a:rPr lang="en-US" sz="1600" strike="noStrike" spc="-1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strike="noStrike" spc="-1" dirty="0" err="1">
                <a:solidFill>
                  <a:srgbClr val="000000"/>
                </a:solidFill>
                <a:latin typeface="+mj-lt"/>
              </a:rPr>
              <a:t>요인들이</a:t>
            </a:r>
            <a:r>
              <a:rPr lang="en-US" sz="1600" strike="noStrike" spc="-1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strike="noStrike" spc="-1" dirty="0" err="1">
                <a:solidFill>
                  <a:srgbClr val="000000"/>
                </a:solidFill>
                <a:latin typeface="+mj-lt"/>
              </a:rPr>
              <a:t>주택</a:t>
            </a:r>
            <a:r>
              <a:rPr lang="en-US" sz="1600" strike="noStrike" spc="-1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strike="noStrike" spc="-1" dirty="0" err="1">
                <a:solidFill>
                  <a:srgbClr val="000000"/>
                </a:solidFill>
                <a:latin typeface="+mj-lt"/>
              </a:rPr>
              <a:t>가격에</a:t>
            </a:r>
            <a:r>
              <a:rPr lang="en-US" sz="1600" strike="noStrike" spc="-1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strike="noStrike" spc="-1" dirty="0" err="1">
                <a:solidFill>
                  <a:srgbClr val="000000"/>
                </a:solidFill>
                <a:latin typeface="+mj-lt"/>
              </a:rPr>
              <a:t>영향을</a:t>
            </a:r>
            <a:r>
              <a:rPr lang="en-US" sz="1600" strike="noStrike" spc="-1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strike="noStrike" spc="-1" dirty="0" err="1">
                <a:solidFill>
                  <a:srgbClr val="000000"/>
                </a:solidFill>
                <a:latin typeface="+mj-lt"/>
              </a:rPr>
              <a:t>미치는지</a:t>
            </a:r>
            <a:r>
              <a:rPr lang="en-US" sz="1600" strike="noStrike" spc="-1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strike="noStrike" spc="-1" dirty="0" err="1">
                <a:solidFill>
                  <a:srgbClr val="000000"/>
                </a:solidFill>
                <a:latin typeface="+mj-lt"/>
              </a:rPr>
              <a:t>알아보기로</a:t>
            </a:r>
            <a:r>
              <a:rPr lang="en-US" sz="1600" strike="noStrike" spc="-1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strike="noStrike" spc="-1" dirty="0" err="1">
                <a:solidFill>
                  <a:srgbClr val="000000"/>
                </a:solidFill>
                <a:latin typeface="+mj-lt"/>
              </a:rPr>
              <a:t>하고</a:t>
            </a:r>
            <a:r>
              <a:rPr lang="en-US" sz="1600" strike="noStrike" spc="-1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strike="noStrike" spc="-1" dirty="0" err="1">
                <a:solidFill>
                  <a:srgbClr val="000000"/>
                </a:solidFill>
                <a:latin typeface="+mj-lt"/>
              </a:rPr>
              <a:t>분석을</a:t>
            </a:r>
            <a:r>
              <a:rPr lang="en-US" sz="1600" strike="noStrike" spc="-1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600" strike="noStrike" spc="-1" dirty="0" err="1">
                <a:solidFill>
                  <a:srgbClr val="000000"/>
                </a:solidFill>
                <a:latin typeface="+mj-lt"/>
              </a:rPr>
              <a:t>시도해보겠다</a:t>
            </a:r>
            <a:r>
              <a:rPr lang="en-US" sz="1600" strike="noStrike" spc="-1" dirty="0">
                <a:solidFill>
                  <a:srgbClr val="000000"/>
                </a:solidFill>
                <a:latin typeface="+mj-lt"/>
              </a:rPr>
              <a:t>. </a:t>
            </a:r>
            <a:endParaRPr lang="en-US" sz="1600" strike="noStrike" spc="-1" dirty="0">
              <a:latin typeface="+mj-lt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D3BD5D8-B687-40A4-B9CD-02B2C2EB6C9F}"/>
              </a:ext>
            </a:extLst>
          </p:cNvPr>
          <p:cNvSpPr/>
          <p:nvPr/>
        </p:nvSpPr>
        <p:spPr>
          <a:xfrm>
            <a:off x="270720" y="132840"/>
            <a:ext cx="7778160" cy="395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altLang="ko-KR" sz="2000" spc="-97" dirty="0" err="1">
                <a:solidFill>
                  <a:srgbClr val="002060"/>
                </a:solidFill>
                <a:latin typeface="HY견고딕"/>
                <a:ea typeface="HY견고딕"/>
              </a:rPr>
              <a:t>과제</a:t>
            </a:r>
            <a:r>
              <a:rPr lang="en-US" altLang="ko-KR" sz="2000" spc="-97" dirty="0">
                <a:solidFill>
                  <a:srgbClr val="002060"/>
                </a:solidFill>
                <a:latin typeface="HY견고딕"/>
                <a:ea typeface="HY견고딕"/>
              </a:rPr>
              <a:t> </a:t>
            </a:r>
            <a:r>
              <a:rPr lang="en-US" altLang="ko-KR" sz="2000" spc="-97" dirty="0" err="1">
                <a:solidFill>
                  <a:srgbClr val="002060"/>
                </a:solidFill>
                <a:latin typeface="HY견고딕"/>
                <a:ea typeface="HY견고딕"/>
              </a:rPr>
              <a:t>정의</a:t>
            </a:r>
            <a:r>
              <a:rPr lang="en-US" altLang="ko-KR" sz="2000" spc="-97" dirty="0">
                <a:solidFill>
                  <a:srgbClr val="002060"/>
                </a:solidFill>
                <a:latin typeface="HY견고딕"/>
                <a:ea typeface="HY견고딕"/>
              </a:rPr>
              <a:t> </a:t>
            </a:r>
            <a:endParaRPr lang="en-US" altLang="ko-KR" sz="2000" spc="-1" dirty="0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C8F3307B-FA15-4FCC-9CC7-75822DC5FF96}"/>
              </a:ext>
            </a:extLst>
          </p:cNvPr>
          <p:cNvSpPr/>
          <p:nvPr/>
        </p:nvSpPr>
        <p:spPr>
          <a:xfrm>
            <a:off x="975326" y="4785084"/>
            <a:ext cx="2655778" cy="982955"/>
          </a:xfrm>
          <a:prstGeom prst="ellipse">
            <a:avLst/>
          </a:prstGeom>
          <a:ln w="127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spc="-1" dirty="0"/>
              <a:t>산화질소 농도</a:t>
            </a:r>
            <a:r>
              <a:rPr lang="en-US" altLang="ko-KR" b="1" spc="-1" dirty="0"/>
              <a:t>(</a:t>
            </a:r>
            <a:r>
              <a:rPr lang="ko-KR" altLang="en-US" b="1" spc="-1" dirty="0"/>
              <a:t>대기오염 지표</a:t>
            </a:r>
            <a:r>
              <a:rPr lang="en-US" altLang="ko-KR" b="1" spc="-1" dirty="0"/>
              <a:t>)</a:t>
            </a:r>
            <a:endParaRPr lang="ko-KR" altLang="en-US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A1658A76-4F23-4C9A-8F7F-17BEF521C660}"/>
              </a:ext>
            </a:extLst>
          </p:cNvPr>
          <p:cNvSpPr/>
          <p:nvPr/>
        </p:nvSpPr>
        <p:spPr>
          <a:xfrm>
            <a:off x="6274897" y="4843912"/>
            <a:ext cx="2655778" cy="875951"/>
          </a:xfrm>
          <a:prstGeom prst="ellipse">
            <a:avLst/>
          </a:prstGeom>
          <a:ln w="127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spc="-1" dirty="0"/>
              <a:t>고용시설까지의 거리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071A579-D20C-4AFE-B7C2-6D12AC5EA328}"/>
              </a:ext>
            </a:extLst>
          </p:cNvPr>
          <p:cNvSpPr/>
          <p:nvPr/>
        </p:nvSpPr>
        <p:spPr>
          <a:xfrm>
            <a:off x="6479178" y="1472361"/>
            <a:ext cx="2303845" cy="893686"/>
          </a:xfrm>
          <a:prstGeom prst="ellipse">
            <a:avLst/>
          </a:prstGeom>
          <a:ln w="127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spc="-1" dirty="0"/>
              <a:t>저소득층 비율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54D2D5C1-855E-4DD0-98B5-F2ACF8BEE991}"/>
              </a:ext>
            </a:extLst>
          </p:cNvPr>
          <p:cNvSpPr/>
          <p:nvPr/>
        </p:nvSpPr>
        <p:spPr>
          <a:xfrm>
            <a:off x="1122977" y="1498060"/>
            <a:ext cx="2155736" cy="893686"/>
          </a:xfrm>
          <a:prstGeom prst="ellipse">
            <a:avLst/>
          </a:prstGeom>
          <a:ln w="127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spc="-1" dirty="0"/>
              <a:t>교사 대 학생 비율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1"/>
          <p:cNvSpPr/>
          <p:nvPr/>
        </p:nvSpPr>
        <p:spPr>
          <a:xfrm>
            <a:off x="5988600" y="215640"/>
            <a:ext cx="3722040" cy="27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en-US" sz="1600" b="0" i="1" strike="noStrike" spc="-1">
                <a:solidFill>
                  <a:srgbClr val="002060"/>
                </a:solidFill>
                <a:latin typeface="HY견고딕"/>
                <a:ea typeface="HY견고딕"/>
              </a:rPr>
              <a:t>종합 실습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86" name="CustomShape 2"/>
          <p:cNvSpPr/>
          <p:nvPr/>
        </p:nvSpPr>
        <p:spPr>
          <a:xfrm>
            <a:off x="270720" y="132840"/>
            <a:ext cx="7777080" cy="39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endParaRPr lang="en-US" sz="2000" b="0" strike="noStrike" spc="-1" dirty="0">
              <a:latin typeface="Arial"/>
            </a:endParaRPr>
          </a:p>
        </p:txBody>
      </p:sp>
      <p:sp>
        <p:nvSpPr>
          <p:cNvPr id="87" name="CustomShape 3"/>
          <p:cNvSpPr/>
          <p:nvPr/>
        </p:nvSpPr>
        <p:spPr>
          <a:xfrm>
            <a:off x="1020112" y="5530320"/>
            <a:ext cx="7589160" cy="812520"/>
          </a:xfrm>
          <a:prstGeom prst="rect">
            <a:avLst/>
          </a:prstGeom>
          <a:noFill/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1" strike="noStrike" spc="-1" dirty="0" err="1">
                <a:latin typeface="Arial"/>
              </a:rPr>
              <a:t>학교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다니는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학생이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있는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가정의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경우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좋은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학교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가까운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곳에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집을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구입하는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하는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경우가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많기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때문에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사람이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몰려서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주택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가격이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오를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것이라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생각</a:t>
            </a:r>
            <a:r>
              <a:rPr lang="ko-KR" altLang="en-US" b="1" spc="-1" dirty="0">
                <a:latin typeface="Arial"/>
              </a:rPr>
              <a:t>한다</a:t>
            </a:r>
            <a:r>
              <a:rPr lang="en-US" altLang="ko-KR" b="1" spc="-1" dirty="0">
                <a:latin typeface="Arial"/>
              </a:rPr>
              <a:t>.</a:t>
            </a:r>
            <a:endParaRPr lang="en-US" sz="1800" b="1" strike="noStrike" spc="-1" dirty="0">
              <a:latin typeface="Arial"/>
            </a:endParaRPr>
          </a:p>
        </p:txBody>
      </p:sp>
      <p:pic>
        <p:nvPicPr>
          <p:cNvPr id="88" name="그림 87"/>
          <p:cNvPicPr/>
          <p:nvPr/>
        </p:nvPicPr>
        <p:blipFill>
          <a:blip r:embed="rId2"/>
          <a:stretch/>
        </p:blipFill>
        <p:spPr>
          <a:xfrm>
            <a:off x="1555200" y="1327680"/>
            <a:ext cx="6309000" cy="3995280"/>
          </a:xfrm>
          <a:prstGeom prst="rect">
            <a:avLst/>
          </a:prstGeom>
          <a:ln w="36720">
            <a:noFill/>
          </a:ln>
        </p:spPr>
      </p:pic>
      <p:sp>
        <p:nvSpPr>
          <p:cNvPr id="89" name="CustomShape 4"/>
          <p:cNvSpPr/>
          <p:nvPr/>
        </p:nvSpPr>
        <p:spPr>
          <a:xfrm>
            <a:off x="365760" y="695880"/>
            <a:ext cx="6034680" cy="456840"/>
          </a:xfrm>
          <a:prstGeom prst="rect">
            <a:avLst/>
          </a:prstGeom>
          <a:noFill/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1" strike="noStrike" spc="-1" dirty="0" err="1">
                <a:latin typeface="Arial"/>
              </a:rPr>
              <a:t>주택가격에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영향을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주는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요인:교사</a:t>
            </a:r>
            <a:r>
              <a:rPr lang="en-US" sz="1800" b="1" strike="noStrike" spc="-1" dirty="0">
                <a:latin typeface="Arial"/>
              </a:rPr>
              <a:t> 대 </a:t>
            </a:r>
            <a:r>
              <a:rPr lang="en-US" sz="1800" b="1" strike="noStrike" spc="-1" dirty="0" err="1">
                <a:latin typeface="Arial"/>
              </a:rPr>
              <a:t>학생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비율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90" name="CustomShape 5"/>
          <p:cNvSpPr/>
          <p:nvPr/>
        </p:nvSpPr>
        <p:spPr>
          <a:xfrm>
            <a:off x="1555200" y="2945880"/>
            <a:ext cx="3124440" cy="1554120"/>
          </a:xfrm>
          <a:prstGeom prst="rect">
            <a:avLst/>
          </a:prstGeom>
          <a:noFill/>
          <a:ln w="36720">
            <a:solidFill>
              <a:srgbClr val="ED1C2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CustomShape 2">
            <a:extLst>
              <a:ext uri="{FF2B5EF4-FFF2-40B4-BE49-F238E27FC236}">
                <a16:creationId xmlns:a16="http://schemas.microsoft.com/office/drawing/2014/main" id="{925C4159-FF80-423A-B939-D8540A63C500}"/>
              </a:ext>
            </a:extLst>
          </p:cNvPr>
          <p:cNvSpPr/>
          <p:nvPr/>
        </p:nvSpPr>
        <p:spPr>
          <a:xfrm>
            <a:off x="270720" y="132840"/>
            <a:ext cx="7778160" cy="395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altLang="ko-KR" sz="2000" spc="-97" dirty="0" err="1">
                <a:solidFill>
                  <a:srgbClr val="002060"/>
                </a:solidFill>
                <a:latin typeface="HY견고딕"/>
                <a:ea typeface="HY견고딕"/>
              </a:rPr>
              <a:t>과제</a:t>
            </a:r>
            <a:r>
              <a:rPr lang="en-US" altLang="ko-KR" sz="2000" spc="-97" dirty="0">
                <a:solidFill>
                  <a:srgbClr val="002060"/>
                </a:solidFill>
                <a:latin typeface="HY견고딕"/>
                <a:ea typeface="HY견고딕"/>
              </a:rPr>
              <a:t> </a:t>
            </a:r>
            <a:r>
              <a:rPr lang="en-US" altLang="ko-KR" sz="2000" spc="-97" dirty="0" err="1">
                <a:solidFill>
                  <a:srgbClr val="002060"/>
                </a:solidFill>
                <a:latin typeface="HY견고딕"/>
                <a:ea typeface="HY견고딕"/>
              </a:rPr>
              <a:t>정의</a:t>
            </a:r>
            <a:r>
              <a:rPr lang="en-US" altLang="ko-KR" sz="2000" spc="-97" dirty="0">
                <a:solidFill>
                  <a:srgbClr val="002060"/>
                </a:solidFill>
                <a:latin typeface="HY견고딕"/>
                <a:ea typeface="HY견고딕"/>
              </a:rPr>
              <a:t> </a:t>
            </a:r>
            <a:endParaRPr lang="en-US" altLang="ko-KR" sz="2000" spc="-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CustomShape 1"/>
          <p:cNvSpPr/>
          <p:nvPr/>
        </p:nvSpPr>
        <p:spPr>
          <a:xfrm>
            <a:off x="5988600" y="215640"/>
            <a:ext cx="3722040" cy="27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en-US" sz="1600" b="0" i="1" strike="noStrike" spc="-1">
                <a:solidFill>
                  <a:srgbClr val="002060"/>
                </a:solidFill>
                <a:latin typeface="HY견고딕"/>
                <a:ea typeface="HY견고딕"/>
              </a:rPr>
              <a:t>종합 실습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93" name="그림 92"/>
          <p:cNvPicPr/>
          <p:nvPr/>
        </p:nvPicPr>
        <p:blipFill>
          <a:blip r:embed="rId2"/>
          <a:stretch/>
        </p:blipFill>
        <p:spPr>
          <a:xfrm>
            <a:off x="1012467" y="1602188"/>
            <a:ext cx="3633748" cy="4321534"/>
          </a:xfrm>
          <a:prstGeom prst="rect">
            <a:avLst/>
          </a:prstGeom>
          <a:ln>
            <a:noFill/>
          </a:ln>
        </p:spPr>
      </p:pic>
      <p:sp>
        <p:nvSpPr>
          <p:cNvPr id="94" name="TextShape 3"/>
          <p:cNvSpPr txBox="1"/>
          <p:nvPr/>
        </p:nvSpPr>
        <p:spPr>
          <a:xfrm>
            <a:off x="5379542" y="2343994"/>
            <a:ext cx="3474720" cy="320327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lIns="90000" tIns="45000" rIns="90000" bIns="45000"/>
          <a:lstStyle/>
          <a:p>
            <a:pPr>
              <a:lnSpc>
                <a:spcPct val="150000"/>
              </a:lnSpc>
            </a:pPr>
            <a:r>
              <a:rPr lang="en-US" sz="1800" b="1" strike="noStrike" spc="-1" dirty="0" err="1">
                <a:latin typeface="Arial"/>
              </a:rPr>
              <a:t>저소득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층의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경우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개인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소득에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맞게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소비를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하기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때문에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생계를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유지하는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비용이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상대적으로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적다는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사실을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왼쪽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그래프를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통해</a:t>
            </a:r>
            <a:r>
              <a:rPr lang="en-US" sz="1800" b="1" strike="noStrike" spc="-1" dirty="0">
                <a:latin typeface="Arial"/>
              </a:rPr>
              <a:t> 알 수 </a:t>
            </a:r>
            <a:r>
              <a:rPr lang="en-US" sz="1800" b="1" strike="noStrike" spc="-1" dirty="0" err="1">
                <a:latin typeface="Arial"/>
              </a:rPr>
              <a:t>있는데</a:t>
            </a:r>
            <a:r>
              <a:rPr lang="en-US" sz="1800" b="1" strike="noStrike" spc="-1" dirty="0">
                <a:latin typeface="Arial"/>
              </a:rPr>
              <a:t>, </a:t>
            </a:r>
            <a:r>
              <a:rPr lang="en-US" sz="1800" b="1" strike="noStrike" spc="-1" dirty="0" err="1">
                <a:latin typeface="Arial"/>
              </a:rPr>
              <a:t>이를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통해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저소득층이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많이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거주하는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지역의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주택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가격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또한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낮을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것이라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추정</a:t>
            </a:r>
            <a:r>
              <a:rPr lang="ko-KR" altLang="en-US" sz="1800" b="1" strike="noStrike" spc="-1" dirty="0">
                <a:latin typeface="Arial"/>
              </a:rPr>
              <a:t>한다</a:t>
            </a:r>
            <a:r>
              <a:rPr lang="en-US" altLang="ko-KR" sz="1800" b="1" strike="noStrike" spc="-1" dirty="0">
                <a:latin typeface="Arial"/>
              </a:rPr>
              <a:t>.</a:t>
            </a:r>
            <a:endParaRPr lang="en-US" sz="1800" b="1" strike="noStrike" spc="-1" dirty="0">
              <a:latin typeface="Arial"/>
            </a:endParaRPr>
          </a:p>
        </p:txBody>
      </p:sp>
      <p:sp>
        <p:nvSpPr>
          <p:cNvPr id="95" name="CustomShape 4"/>
          <p:cNvSpPr/>
          <p:nvPr/>
        </p:nvSpPr>
        <p:spPr>
          <a:xfrm>
            <a:off x="365760" y="695880"/>
            <a:ext cx="6034680" cy="456840"/>
          </a:xfrm>
          <a:prstGeom prst="rect">
            <a:avLst/>
          </a:prstGeom>
          <a:noFill/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1" strike="noStrike" spc="-1">
                <a:latin typeface="Arial"/>
              </a:rPr>
              <a:t>주택가격에 영향을 주는 요인:저소득층 비율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4" name="CustomShape 2">
            <a:extLst>
              <a:ext uri="{FF2B5EF4-FFF2-40B4-BE49-F238E27FC236}">
                <a16:creationId xmlns:a16="http://schemas.microsoft.com/office/drawing/2014/main" id="{353D8E00-9E45-4D40-BAB9-C111B42832F5}"/>
              </a:ext>
            </a:extLst>
          </p:cNvPr>
          <p:cNvSpPr/>
          <p:nvPr/>
        </p:nvSpPr>
        <p:spPr>
          <a:xfrm>
            <a:off x="270720" y="132840"/>
            <a:ext cx="7777080" cy="39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ko-KR" altLang="en-US" sz="2000" spc="-89" dirty="0">
                <a:solidFill>
                  <a:srgbClr val="002060"/>
                </a:solidFill>
                <a:latin typeface="HY견고딕"/>
                <a:ea typeface="HY견고딕"/>
              </a:rPr>
              <a:t>과제 정의</a:t>
            </a:r>
            <a:endParaRPr lang="en-US" sz="2000" b="0" strike="noStrike" spc="-1" dirty="0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CustomShape 1"/>
          <p:cNvSpPr/>
          <p:nvPr/>
        </p:nvSpPr>
        <p:spPr>
          <a:xfrm>
            <a:off x="5988600" y="215640"/>
            <a:ext cx="3723120" cy="27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en-US" sz="1600" b="0" i="1" strike="noStrike" spc="-1">
                <a:solidFill>
                  <a:srgbClr val="002060"/>
                </a:solidFill>
                <a:latin typeface="HY견고딕"/>
                <a:ea typeface="HY견고딕"/>
              </a:rPr>
              <a:t>종합 실습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99" name="그림 98"/>
          <p:cNvPicPr/>
          <p:nvPr/>
        </p:nvPicPr>
        <p:blipFill>
          <a:blip r:embed="rId2"/>
          <a:stretch/>
        </p:blipFill>
        <p:spPr>
          <a:xfrm>
            <a:off x="607241" y="1807269"/>
            <a:ext cx="4345759" cy="4183115"/>
          </a:xfrm>
          <a:prstGeom prst="rect">
            <a:avLst/>
          </a:prstGeom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B765F6-D34A-42A0-8887-AACC36ED4757}"/>
              </a:ext>
            </a:extLst>
          </p:cNvPr>
          <p:cNvSpPr txBox="1"/>
          <p:nvPr/>
        </p:nvSpPr>
        <p:spPr>
          <a:xfrm>
            <a:off x="5479477" y="2499836"/>
            <a:ext cx="3585009" cy="2533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latin typeface="+mj-lt"/>
              </a:rPr>
              <a:t>우리나라의 판교를 예로 들어보면</a:t>
            </a:r>
            <a:r>
              <a:rPr lang="en-US" altLang="ko-KR" b="1" dirty="0">
                <a:latin typeface="+mj-lt"/>
              </a:rPr>
              <a:t>, </a:t>
            </a:r>
            <a:r>
              <a:rPr lang="ko-KR" altLang="en-US" b="1" dirty="0">
                <a:latin typeface="+mj-lt"/>
              </a:rPr>
              <a:t>판교의 집값은 </a:t>
            </a:r>
            <a:r>
              <a:rPr lang="en-US" altLang="ko-KR" b="1" dirty="0">
                <a:latin typeface="+mj-lt"/>
              </a:rPr>
              <a:t>IT</a:t>
            </a:r>
            <a:r>
              <a:rPr lang="ko-KR" altLang="en-US" b="1" dirty="0">
                <a:latin typeface="+mj-lt"/>
              </a:rPr>
              <a:t>기업들이 상당수 모여 있어 강남 수준까지 오른 지경이 됐다</a:t>
            </a:r>
            <a:r>
              <a:rPr lang="en-US" altLang="ko-KR" b="1" dirty="0">
                <a:latin typeface="+mj-lt"/>
              </a:rPr>
              <a:t>. </a:t>
            </a:r>
            <a:r>
              <a:rPr lang="ko-KR" altLang="en-US" b="1" dirty="0">
                <a:latin typeface="+mj-lt"/>
              </a:rPr>
              <a:t>이 현황을 바탕으로 회사 접근성이 높을수록 집값은 더욱 상승할 것으로 추정한다</a:t>
            </a:r>
            <a:r>
              <a:rPr lang="en-US" altLang="ko-KR" b="1" dirty="0">
                <a:latin typeface="+mj-lt"/>
              </a:rPr>
              <a:t>.</a:t>
            </a: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B23EB56B-6E14-48E2-A70B-66FCF972CF80}"/>
              </a:ext>
            </a:extLst>
          </p:cNvPr>
          <p:cNvSpPr/>
          <p:nvPr/>
        </p:nvSpPr>
        <p:spPr>
          <a:xfrm>
            <a:off x="270720" y="132840"/>
            <a:ext cx="7778160" cy="395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2000" b="0" strike="noStrike" spc="-97" dirty="0" err="1">
                <a:solidFill>
                  <a:srgbClr val="002060"/>
                </a:solidFill>
                <a:latin typeface="HY견고딕"/>
                <a:ea typeface="HY견고딕"/>
              </a:rPr>
              <a:t>과제</a:t>
            </a:r>
            <a:r>
              <a:rPr lang="en-US" sz="2000" b="0" strike="noStrike" spc="-97" dirty="0">
                <a:solidFill>
                  <a:srgbClr val="002060"/>
                </a:solidFill>
                <a:latin typeface="HY견고딕"/>
                <a:ea typeface="HY견고딕"/>
              </a:rPr>
              <a:t> </a:t>
            </a:r>
            <a:r>
              <a:rPr lang="en-US" sz="2000" b="0" strike="noStrike" spc="-97" dirty="0" err="1">
                <a:solidFill>
                  <a:srgbClr val="002060"/>
                </a:solidFill>
                <a:latin typeface="HY견고딕"/>
                <a:ea typeface="HY견고딕"/>
              </a:rPr>
              <a:t>정의</a:t>
            </a:r>
            <a:r>
              <a:rPr lang="en-US" sz="2000" b="0" strike="noStrike" spc="-97" dirty="0">
                <a:solidFill>
                  <a:srgbClr val="002060"/>
                </a:solidFill>
                <a:latin typeface="HY견고딕"/>
                <a:ea typeface="HY견고딕"/>
              </a:rPr>
              <a:t> </a:t>
            </a:r>
            <a:endParaRPr lang="en-US" sz="2000" b="0" strike="noStrike" spc="-1" dirty="0">
              <a:latin typeface="Arial"/>
            </a:endParaRPr>
          </a:p>
        </p:txBody>
      </p:sp>
      <p:sp>
        <p:nvSpPr>
          <p:cNvPr id="3" name="CustomShape 4">
            <a:extLst>
              <a:ext uri="{FF2B5EF4-FFF2-40B4-BE49-F238E27FC236}">
                <a16:creationId xmlns:a16="http://schemas.microsoft.com/office/drawing/2014/main" id="{1F8B7511-B354-4B99-BE67-1E254BAFD28A}"/>
              </a:ext>
            </a:extLst>
          </p:cNvPr>
          <p:cNvSpPr/>
          <p:nvPr/>
        </p:nvSpPr>
        <p:spPr>
          <a:xfrm>
            <a:off x="365760" y="695880"/>
            <a:ext cx="6034680" cy="456840"/>
          </a:xfrm>
          <a:prstGeom prst="rect">
            <a:avLst/>
          </a:prstGeom>
          <a:noFill/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1" strike="noStrike" spc="-1" dirty="0" err="1">
                <a:latin typeface="Arial"/>
              </a:rPr>
              <a:t>주택가격에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영향을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주는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요인</a:t>
            </a:r>
            <a:r>
              <a:rPr lang="en-US" sz="1800" b="1" strike="noStrike" spc="-1" dirty="0">
                <a:latin typeface="Arial"/>
              </a:rPr>
              <a:t>:</a:t>
            </a:r>
            <a:r>
              <a:rPr lang="ko-KR" altLang="en-US" sz="1800" b="1" strike="noStrike" spc="-1" dirty="0">
                <a:latin typeface="Arial"/>
              </a:rPr>
              <a:t>고용시설까지의 거리 </a:t>
            </a:r>
            <a:endParaRPr lang="en-US" sz="1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앉아있는, 테이블, 컴퓨터이(가) 표시된 사진&#10;&#10;자동 생성된 설명">
            <a:extLst>
              <a:ext uri="{FF2B5EF4-FFF2-40B4-BE49-F238E27FC236}">
                <a16:creationId xmlns:a16="http://schemas.microsoft.com/office/drawing/2014/main" id="{EC8A966F-AF3B-4DD1-ACEF-CD01A38EE3A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722"/>
          <a:stretch/>
        </p:blipFill>
        <p:spPr>
          <a:xfrm>
            <a:off x="1092746" y="2076540"/>
            <a:ext cx="7345367" cy="61084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6" name="CustomShape 1"/>
          <p:cNvSpPr/>
          <p:nvPr/>
        </p:nvSpPr>
        <p:spPr>
          <a:xfrm>
            <a:off x="5988600" y="215640"/>
            <a:ext cx="3723120" cy="27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en-US" sz="1600" b="0" i="1" strike="noStrike" spc="-1">
                <a:solidFill>
                  <a:srgbClr val="002060"/>
                </a:solidFill>
                <a:latin typeface="HY견고딕"/>
                <a:ea typeface="HY견고딕"/>
              </a:rPr>
              <a:t>종합 실습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97" name="CustomShape 2"/>
          <p:cNvSpPr/>
          <p:nvPr/>
        </p:nvSpPr>
        <p:spPr>
          <a:xfrm>
            <a:off x="270720" y="132840"/>
            <a:ext cx="7778160" cy="395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2000" b="0" strike="noStrike" spc="-97">
                <a:solidFill>
                  <a:srgbClr val="002060"/>
                </a:solidFill>
                <a:latin typeface="HY견고딕"/>
                <a:ea typeface="HY견고딕"/>
              </a:rPr>
              <a:t>과제 정의 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933432-0517-4D36-A966-3E17DAFF4DDB}"/>
              </a:ext>
            </a:extLst>
          </p:cNvPr>
          <p:cNvSpPr txBox="1"/>
          <p:nvPr/>
        </p:nvSpPr>
        <p:spPr>
          <a:xfrm>
            <a:off x="270720" y="2825879"/>
            <a:ext cx="4653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“</a:t>
            </a:r>
            <a:r>
              <a:rPr lang="ko-KR" altLang="en-US" sz="12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집 앞에서 쾌적한 자연환경을 누릴 수 있는 </a:t>
            </a:r>
            <a:endParaRPr lang="en-US" altLang="ko-KR" sz="1200" b="1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ko-KR" sz="12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'</a:t>
            </a:r>
            <a:r>
              <a:rPr lang="ko-KR" altLang="en-US" sz="1200" b="1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공세권</a:t>
            </a:r>
            <a:r>
              <a:rPr lang="en-US" altLang="ko-KR" sz="12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'(</a:t>
            </a:r>
            <a:r>
              <a:rPr lang="ko-KR" altLang="en-US" sz="12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공원</a:t>
            </a:r>
            <a:r>
              <a:rPr lang="en-US" altLang="ko-KR" sz="12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+</a:t>
            </a:r>
            <a:r>
              <a:rPr lang="ko-KR" altLang="en-US" sz="12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역세권</a:t>
            </a:r>
            <a:r>
              <a:rPr lang="en-US" altLang="ko-KR" sz="12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</a:t>
            </a:r>
            <a:r>
              <a:rPr lang="ko-KR" altLang="en-US" sz="12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단지에 수요자들의 관심이 모이고 있다</a:t>
            </a:r>
            <a:r>
              <a:rPr lang="en-US" altLang="ko-KR" sz="12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.”</a:t>
            </a:r>
            <a:endParaRPr lang="en-US" altLang="ko-KR" sz="1600" b="1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CustomShape 4">
            <a:extLst>
              <a:ext uri="{FF2B5EF4-FFF2-40B4-BE49-F238E27FC236}">
                <a16:creationId xmlns:a16="http://schemas.microsoft.com/office/drawing/2014/main" id="{4AA7C4A6-621B-4D70-9F16-E6B858715F09}"/>
              </a:ext>
            </a:extLst>
          </p:cNvPr>
          <p:cNvSpPr/>
          <p:nvPr/>
        </p:nvSpPr>
        <p:spPr>
          <a:xfrm>
            <a:off x="365759" y="695880"/>
            <a:ext cx="6859989" cy="456840"/>
          </a:xfrm>
          <a:prstGeom prst="rect">
            <a:avLst/>
          </a:prstGeom>
          <a:noFill/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1" strike="noStrike" spc="-1" dirty="0" err="1">
                <a:latin typeface="Arial"/>
              </a:rPr>
              <a:t>주택가격에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영향을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주는</a:t>
            </a:r>
            <a:r>
              <a:rPr lang="en-US" sz="1800" b="1" strike="noStrike" spc="-1" dirty="0">
                <a:latin typeface="Arial"/>
              </a:rPr>
              <a:t> </a:t>
            </a:r>
            <a:r>
              <a:rPr lang="en-US" sz="1800" b="1" strike="noStrike" spc="-1" dirty="0" err="1">
                <a:latin typeface="Arial"/>
              </a:rPr>
              <a:t>요인</a:t>
            </a:r>
            <a:r>
              <a:rPr lang="en-US" sz="1800" b="1" strike="noStrike" spc="-1" dirty="0">
                <a:latin typeface="Arial"/>
              </a:rPr>
              <a:t>:</a:t>
            </a:r>
            <a:r>
              <a:rPr lang="ko-KR" altLang="en-US" b="1" spc="-1" dirty="0">
                <a:latin typeface="Arial"/>
              </a:rPr>
              <a:t>산화질소 농도</a:t>
            </a:r>
            <a:r>
              <a:rPr lang="en-US" altLang="ko-KR" b="1" spc="-1" dirty="0">
                <a:latin typeface="Arial"/>
              </a:rPr>
              <a:t>(</a:t>
            </a:r>
            <a:r>
              <a:rPr lang="ko-KR" altLang="en-US" b="1" spc="-1" dirty="0">
                <a:latin typeface="Arial"/>
              </a:rPr>
              <a:t>대기오염 지표</a:t>
            </a:r>
            <a:r>
              <a:rPr lang="en-US" altLang="ko-KR" b="1" spc="-1" dirty="0">
                <a:latin typeface="Arial"/>
              </a:rPr>
              <a:t>)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253110-5E89-413D-B4EF-55750B7D9707}"/>
              </a:ext>
            </a:extLst>
          </p:cNvPr>
          <p:cNvSpPr txBox="1"/>
          <p:nvPr/>
        </p:nvSpPr>
        <p:spPr>
          <a:xfrm>
            <a:off x="1300092" y="4720603"/>
            <a:ext cx="69495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+mj-lt"/>
              </a:rPr>
              <a:t>다음 기사의 헤드라인을 보면 대기오염의 정도가 집 값 형성에 큰 영향을 미친다는 사실을 알 수 있다</a:t>
            </a:r>
            <a:r>
              <a:rPr lang="en-US" altLang="ko-KR" b="1" dirty="0">
                <a:latin typeface="+mj-lt"/>
              </a:rPr>
              <a:t>. </a:t>
            </a:r>
            <a:r>
              <a:rPr lang="ko-KR" altLang="en-US" b="1" dirty="0">
                <a:latin typeface="+mj-lt"/>
              </a:rPr>
              <a:t>이에 근거하여 산화질소 농도가 높을수록 집값이 낮아질 것으로 추정한다</a:t>
            </a:r>
            <a:r>
              <a:rPr lang="en-US" altLang="ko-KR" b="1" dirty="0">
                <a:latin typeface="+mj-lt"/>
              </a:rPr>
              <a:t>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E27BEDB-03BE-4C68-99C1-81BDF805754E}"/>
              </a:ext>
            </a:extLst>
          </p:cNvPr>
          <p:cNvSpPr/>
          <p:nvPr/>
        </p:nvSpPr>
        <p:spPr>
          <a:xfrm rot="20822626">
            <a:off x="4341626" y="2950989"/>
            <a:ext cx="4975771" cy="58477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“</a:t>
            </a:r>
            <a:r>
              <a:rPr lang="ko-KR" altLang="en-US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공원과의 거리에 따라 아파트 가격의 차이가 벌어지고 있다</a:t>
            </a:r>
            <a:r>
              <a:rPr lang="en-US" altLang="ko-KR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3903049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ustomShape 1"/>
          <p:cNvSpPr/>
          <p:nvPr/>
        </p:nvSpPr>
        <p:spPr>
          <a:xfrm>
            <a:off x="5988600" y="215640"/>
            <a:ext cx="3723120" cy="27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en-US" sz="1600" b="0" i="1" strike="noStrike" spc="-1">
                <a:solidFill>
                  <a:srgbClr val="002060"/>
                </a:solidFill>
                <a:latin typeface="HY견고딕"/>
                <a:ea typeface="HY견고딕"/>
              </a:rPr>
              <a:t>종합 실습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02" name="CustomShape 2"/>
          <p:cNvSpPr/>
          <p:nvPr/>
        </p:nvSpPr>
        <p:spPr>
          <a:xfrm>
            <a:off x="270720" y="132840"/>
            <a:ext cx="7778160" cy="395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2000" b="0" strike="noStrike" spc="-97">
                <a:solidFill>
                  <a:srgbClr val="002060"/>
                </a:solidFill>
                <a:latin typeface="HY견고딕"/>
                <a:ea typeface="HY견고딕"/>
              </a:rPr>
              <a:t>과제 정의 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04" name="TextShape 4"/>
          <p:cNvSpPr txBox="1"/>
          <p:nvPr/>
        </p:nvSpPr>
        <p:spPr>
          <a:xfrm>
            <a:off x="575035" y="934983"/>
            <a:ext cx="8503920" cy="93272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50000"/>
              </a:lnSpc>
            </a:pPr>
            <a:endParaRPr lang="en-US" altLang="ko-KR" sz="1400" spc="-1" dirty="0">
              <a:latin typeface="Arial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spc="-1" dirty="0">
                <a:latin typeface="Arial"/>
              </a:rPr>
              <a:t>앞서</a:t>
            </a:r>
            <a:r>
              <a:rPr lang="ko-KR" altLang="en-US" sz="1600" strike="noStrike" spc="-1" dirty="0">
                <a:latin typeface="Arial"/>
              </a:rPr>
              <a:t> 살펴보았던 근거들을 바탕으로 다음과 같이 가설을 세웠다</a:t>
            </a:r>
            <a:r>
              <a:rPr lang="en-US" altLang="ko-KR" sz="1600" strike="noStrike" spc="-1" dirty="0">
                <a:latin typeface="Arial"/>
              </a:rPr>
              <a:t>.</a:t>
            </a:r>
          </a:p>
          <a:p>
            <a:pPr algn="ctr">
              <a:lnSpc>
                <a:spcPct val="150000"/>
              </a:lnSpc>
            </a:pPr>
            <a:endParaRPr lang="en-US" altLang="ko-KR" sz="1400" b="0" strike="noStrike" spc="-1" dirty="0">
              <a:latin typeface="Arial"/>
            </a:endParaRPr>
          </a:p>
          <a:p>
            <a:pPr>
              <a:lnSpc>
                <a:spcPct val="150000"/>
              </a:lnSpc>
            </a:pPr>
            <a:endParaRPr lang="en-US" sz="1400" spc="-1" dirty="0">
              <a:latin typeface="Arial"/>
            </a:endParaRPr>
          </a:p>
          <a:p>
            <a:pPr>
              <a:lnSpc>
                <a:spcPct val="150000"/>
              </a:lnSpc>
            </a:pPr>
            <a:endParaRPr lang="en-US" b="1" spc="-1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sz="1800" b="1" strike="noStrike" spc="-1" dirty="0">
              <a:latin typeface="+mj-lt"/>
            </a:endParaRPr>
          </a:p>
          <a:p>
            <a:endParaRPr lang="en-US" b="1" spc="-1" dirty="0">
              <a:latin typeface="+mj-lt"/>
            </a:endParaRPr>
          </a:p>
          <a:p>
            <a:endParaRPr lang="en-US" sz="1800" b="1" strike="noStrike" spc="-1" dirty="0">
              <a:latin typeface="+mj-lt"/>
            </a:endParaRPr>
          </a:p>
          <a:p>
            <a:endParaRPr lang="en-US" sz="1800" b="1" strike="noStrike" spc="-1" dirty="0">
              <a:latin typeface="+mj-lt"/>
            </a:endParaRPr>
          </a:p>
          <a:p>
            <a:endParaRPr lang="en-US" sz="1800" b="1" strike="noStrike" spc="-1" dirty="0">
              <a:latin typeface="+mj-lt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7E1B594-08A9-469B-A111-F25BB9D549D8}"/>
              </a:ext>
            </a:extLst>
          </p:cNvPr>
          <p:cNvSpPr/>
          <p:nvPr/>
        </p:nvSpPr>
        <p:spPr>
          <a:xfrm>
            <a:off x="904866" y="2626469"/>
            <a:ext cx="8251910" cy="250973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endParaRPr lang="en-US" altLang="ko-KR" spc="-1" dirty="0">
              <a:solidFill>
                <a:schemeClr val="tx1"/>
              </a:solidFill>
            </a:endParaRPr>
          </a:p>
          <a:p>
            <a:r>
              <a:rPr lang="en-US" altLang="ko-KR" b="1" spc="-1" dirty="0">
                <a:solidFill>
                  <a:schemeClr val="tx1"/>
                </a:solidFill>
              </a:rPr>
              <a:t>       &lt;</a:t>
            </a:r>
            <a:r>
              <a:rPr lang="ko-KR" altLang="en-US" b="1" spc="-1" dirty="0">
                <a:solidFill>
                  <a:schemeClr val="tx1"/>
                </a:solidFill>
              </a:rPr>
              <a:t>가설</a:t>
            </a:r>
            <a:r>
              <a:rPr lang="en-US" altLang="ko-KR" b="1" spc="-1" dirty="0">
                <a:solidFill>
                  <a:schemeClr val="tx1"/>
                </a:solidFill>
              </a:rPr>
              <a:t>1&gt;  </a:t>
            </a:r>
            <a:r>
              <a:rPr lang="en-US" altLang="ko-KR" b="1" spc="-1" dirty="0" err="1">
                <a:solidFill>
                  <a:schemeClr val="tx1"/>
                </a:solidFill>
              </a:rPr>
              <a:t>지역의</a:t>
            </a:r>
            <a:r>
              <a:rPr lang="en-US" altLang="ko-KR" b="1" spc="-1" dirty="0">
                <a:solidFill>
                  <a:schemeClr val="tx1"/>
                </a:solidFill>
              </a:rPr>
              <a:t> </a:t>
            </a:r>
            <a:r>
              <a:rPr lang="en-US" altLang="ko-KR" b="1" spc="-1" dirty="0" err="1">
                <a:solidFill>
                  <a:schemeClr val="tx1"/>
                </a:solidFill>
              </a:rPr>
              <a:t>저소득층</a:t>
            </a:r>
            <a:r>
              <a:rPr lang="en-US" altLang="ko-KR" b="1" spc="-1" dirty="0">
                <a:solidFill>
                  <a:schemeClr val="tx1"/>
                </a:solidFill>
              </a:rPr>
              <a:t> </a:t>
            </a:r>
            <a:r>
              <a:rPr lang="en-US" altLang="ko-KR" b="1" spc="-1" dirty="0" err="1">
                <a:solidFill>
                  <a:schemeClr val="tx1"/>
                </a:solidFill>
              </a:rPr>
              <a:t>비율이</a:t>
            </a:r>
            <a:r>
              <a:rPr lang="en-US" altLang="ko-KR" b="1" spc="-1" dirty="0">
                <a:solidFill>
                  <a:schemeClr val="tx1"/>
                </a:solidFill>
              </a:rPr>
              <a:t> </a:t>
            </a:r>
            <a:r>
              <a:rPr lang="en-US" altLang="ko-KR" b="1" spc="-1" dirty="0" err="1">
                <a:solidFill>
                  <a:schemeClr val="tx1"/>
                </a:solidFill>
              </a:rPr>
              <a:t>낮을수록</a:t>
            </a:r>
            <a:r>
              <a:rPr lang="en-US" altLang="ko-KR" b="1" spc="-1" dirty="0">
                <a:solidFill>
                  <a:schemeClr val="tx1"/>
                </a:solidFill>
              </a:rPr>
              <a:t> 집 </a:t>
            </a:r>
            <a:r>
              <a:rPr lang="en-US" altLang="ko-KR" b="1" spc="-1" dirty="0" err="1">
                <a:solidFill>
                  <a:schemeClr val="tx1"/>
                </a:solidFill>
              </a:rPr>
              <a:t>값이</a:t>
            </a:r>
            <a:r>
              <a:rPr lang="en-US" altLang="ko-KR" b="1" spc="-1" dirty="0">
                <a:solidFill>
                  <a:schemeClr val="tx1"/>
                </a:solidFill>
              </a:rPr>
              <a:t> </a:t>
            </a:r>
            <a:r>
              <a:rPr lang="en-US" altLang="ko-KR" b="1" spc="-1" dirty="0" err="1">
                <a:solidFill>
                  <a:schemeClr val="tx1"/>
                </a:solidFill>
              </a:rPr>
              <a:t>높을</a:t>
            </a:r>
            <a:r>
              <a:rPr lang="en-US" altLang="ko-KR" b="1" spc="-1" dirty="0">
                <a:solidFill>
                  <a:schemeClr val="tx1"/>
                </a:solidFill>
              </a:rPr>
              <a:t> </a:t>
            </a:r>
            <a:r>
              <a:rPr lang="en-US" altLang="ko-KR" b="1" spc="-1" dirty="0" err="1">
                <a:solidFill>
                  <a:schemeClr val="tx1"/>
                </a:solidFill>
              </a:rPr>
              <a:t>것이다</a:t>
            </a:r>
            <a:r>
              <a:rPr lang="en-US" altLang="ko-KR" b="1" spc="-1" dirty="0">
                <a:solidFill>
                  <a:schemeClr val="tx1"/>
                </a:solidFill>
              </a:rPr>
              <a:t>.</a:t>
            </a:r>
          </a:p>
          <a:p>
            <a:endParaRPr lang="en-US" altLang="ko-KR" b="1" spc="-1" dirty="0">
              <a:solidFill>
                <a:schemeClr val="tx1"/>
              </a:solidFill>
            </a:endParaRPr>
          </a:p>
          <a:p>
            <a:r>
              <a:rPr lang="en-US" altLang="ko-KR" b="1" spc="-1" dirty="0">
                <a:solidFill>
                  <a:schemeClr val="tx1"/>
                </a:solidFill>
              </a:rPr>
              <a:t>       &lt;</a:t>
            </a:r>
            <a:r>
              <a:rPr lang="ko-KR" altLang="en-US" b="1" spc="-1" dirty="0">
                <a:solidFill>
                  <a:schemeClr val="tx1"/>
                </a:solidFill>
              </a:rPr>
              <a:t>가설</a:t>
            </a:r>
            <a:r>
              <a:rPr lang="en-US" altLang="ko-KR" b="1" spc="-1" dirty="0">
                <a:solidFill>
                  <a:schemeClr val="tx1"/>
                </a:solidFill>
              </a:rPr>
              <a:t>2&gt;  </a:t>
            </a:r>
            <a:r>
              <a:rPr lang="en-US" altLang="ko-KR" b="1" spc="-1" dirty="0" err="1">
                <a:solidFill>
                  <a:schemeClr val="tx1"/>
                </a:solidFill>
              </a:rPr>
              <a:t>학생</a:t>
            </a:r>
            <a:r>
              <a:rPr lang="en-US" altLang="ko-KR" b="1" spc="-1" dirty="0">
                <a:solidFill>
                  <a:schemeClr val="tx1"/>
                </a:solidFill>
              </a:rPr>
              <a:t>/</a:t>
            </a:r>
            <a:r>
              <a:rPr lang="en-US" altLang="ko-KR" b="1" spc="-1" dirty="0" err="1">
                <a:solidFill>
                  <a:schemeClr val="tx1"/>
                </a:solidFill>
              </a:rPr>
              <a:t>교사</a:t>
            </a:r>
            <a:r>
              <a:rPr lang="en-US" altLang="ko-KR" b="1" spc="-1" dirty="0">
                <a:solidFill>
                  <a:schemeClr val="tx1"/>
                </a:solidFill>
              </a:rPr>
              <a:t> </a:t>
            </a:r>
            <a:r>
              <a:rPr lang="en-US" altLang="ko-KR" b="1" spc="-1" dirty="0" err="1">
                <a:solidFill>
                  <a:schemeClr val="tx1"/>
                </a:solidFill>
              </a:rPr>
              <a:t>비율이</a:t>
            </a:r>
            <a:r>
              <a:rPr lang="en-US" altLang="ko-KR" b="1" spc="-1" dirty="0">
                <a:solidFill>
                  <a:schemeClr val="tx1"/>
                </a:solidFill>
              </a:rPr>
              <a:t> </a:t>
            </a:r>
            <a:r>
              <a:rPr lang="en-US" altLang="ko-KR" b="1" spc="-1" dirty="0" err="1">
                <a:solidFill>
                  <a:schemeClr val="tx1"/>
                </a:solidFill>
              </a:rPr>
              <a:t>높을수록</a:t>
            </a:r>
            <a:r>
              <a:rPr lang="en-US" altLang="ko-KR" b="1" spc="-1" dirty="0">
                <a:solidFill>
                  <a:schemeClr val="tx1"/>
                </a:solidFill>
              </a:rPr>
              <a:t> 집 </a:t>
            </a:r>
            <a:r>
              <a:rPr lang="en-US" altLang="ko-KR" b="1" spc="-1" dirty="0" err="1">
                <a:solidFill>
                  <a:schemeClr val="tx1"/>
                </a:solidFill>
              </a:rPr>
              <a:t>값이</a:t>
            </a:r>
            <a:r>
              <a:rPr lang="en-US" altLang="ko-KR" b="1" spc="-1" dirty="0">
                <a:solidFill>
                  <a:schemeClr val="tx1"/>
                </a:solidFill>
              </a:rPr>
              <a:t> </a:t>
            </a:r>
            <a:r>
              <a:rPr lang="en-US" altLang="ko-KR" b="1" spc="-1" dirty="0" err="1">
                <a:solidFill>
                  <a:schemeClr val="tx1"/>
                </a:solidFill>
              </a:rPr>
              <a:t>높을</a:t>
            </a:r>
            <a:r>
              <a:rPr lang="en-US" altLang="ko-KR" b="1" spc="-1" dirty="0">
                <a:solidFill>
                  <a:schemeClr val="tx1"/>
                </a:solidFill>
              </a:rPr>
              <a:t> </a:t>
            </a:r>
            <a:r>
              <a:rPr lang="en-US" altLang="ko-KR" b="1" spc="-1" dirty="0" err="1">
                <a:solidFill>
                  <a:schemeClr val="tx1"/>
                </a:solidFill>
              </a:rPr>
              <a:t>것이다</a:t>
            </a:r>
            <a:r>
              <a:rPr lang="en-US" altLang="ko-KR" b="1" spc="-1" dirty="0">
                <a:solidFill>
                  <a:schemeClr val="tx1"/>
                </a:solidFill>
              </a:rPr>
              <a:t>. </a:t>
            </a:r>
          </a:p>
          <a:p>
            <a:endParaRPr lang="en-US" altLang="ko-KR" b="1" spc="-1" dirty="0">
              <a:solidFill>
                <a:schemeClr val="tx1"/>
              </a:solidFill>
            </a:endParaRPr>
          </a:p>
          <a:p>
            <a:r>
              <a:rPr lang="en-US" altLang="ko-KR" b="1" spc="-1" dirty="0">
                <a:solidFill>
                  <a:schemeClr val="tx1"/>
                </a:solidFill>
              </a:rPr>
              <a:t>       &lt;</a:t>
            </a:r>
            <a:r>
              <a:rPr lang="ko-KR" altLang="en-US" b="1" spc="-1" dirty="0">
                <a:solidFill>
                  <a:schemeClr val="tx1"/>
                </a:solidFill>
              </a:rPr>
              <a:t>가설</a:t>
            </a:r>
            <a:r>
              <a:rPr lang="en-US" altLang="ko-KR" b="1" spc="-1" dirty="0">
                <a:solidFill>
                  <a:schemeClr val="tx1"/>
                </a:solidFill>
              </a:rPr>
              <a:t>3&gt;  </a:t>
            </a:r>
            <a:r>
              <a:rPr lang="en-US" altLang="ko-KR" b="1" spc="-1" dirty="0" err="1">
                <a:solidFill>
                  <a:schemeClr val="tx1"/>
                </a:solidFill>
              </a:rPr>
              <a:t>보스턴</a:t>
            </a:r>
            <a:r>
              <a:rPr lang="en-US" altLang="ko-KR" b="1" spc="-1" dirty="0">
                <a:solidFill>
                  <a:schemeClr val="tx1"/>
                </a:solidFill>
              </a:rPr>
              <a:t> 시 </a:t>
            </a:r>
            <a:r>
              <a:rPr lang="en-US" altLang="ko-KR" b="1" spc="-1" dirty="0" err="1">
                <a:solidFill>
                  <a:schemeClr val="tx1"/>
                </a:solidFill>
              </a:rPr>
              <a:t>고용시설까지</a:t>
            </a:r>
            <a:r>
              <a:rPr lang="en-US" altLang="ko-KR" b="1" spc="-1" dirty="0">
                <a:solidFill>
                  <a:schemeClr val="tx1"/>
                </a:solidFill>
              </a:rPr>
              <a:t> </a:t>
            </a:r>
            <a:r>
              <a:rPr lang="en-US" altLang="ko-KR" b="1" spc="-1" dirty="0" err="1">
                <a:solidFill>
                  <a:schemeClr val="tx1"/>
                </a:solidFill>
              </a:rPr>
              <a:t>거리가</a:t>
            </a:r>
            <a:r>
              <a:rPr lang="en-US" altLang="ko-KR" b="1" spc="-1" dirty="0">
                <a:solidFill>
                  <a:schemeClr val="tx1"/>
                </a:solidFill>
              </a:rPr>
              <a:t> </a:t>
            </a:r>
            <a:r>
              <a:rPr lang="en-US" altLang="ko-KR" b="1" spc="-1" dirty="0" err="1">
                <a:solidFill>
                  <a:schemeClr val="tx1"/>
                </a:solidFill>
              </a:rPr>
              <a:t>가까울수록</a:t>
            </a:r>
            <a:r>
              <a:rPr lang="en-US" altLang="ko-KR" b="1" spc="-1" dirty="0">
                <a:solidFill>
                  <a:schemeClr val="tx1"/>
                </a:solidFill>
              </a:rPr>
              <a:t> </a:t>
            </a:r>
            <a:r>
              <a:rPr lang="en-US" altLang="ko-KR" b="1" spc="-1" dirty="0" err="1">
                <a:solidFill>
                  <a:schemeClr val="tx1"/>
                </a:solidFill>
              </a:rPr>
              <a:t>집값이</a:t>
            </a:r>
            <a:r>
              <a:rPr lang="en-US" altLang="ko-KR" b="1" spc="-1" dirty="0">
                <a:solidFill>
                  <a:schemeClr val="tx1"/>
                </a:solidFill>
              </a:rPr>
              <a:t> </a:t>
            </a:r>
            <a:r>
              <a:rPr lang="en-US" altLang="ko-KR" b="1" spc="-1" dirty="0" err="1">
                <a:solidFill>
                  <a:schemeClr val="tx1"/>
                </a:solidFill>
              </a:rPr>
              <a:t>높을</a:t>
            </a:r>
            <a:r>
              <a:rPr lang="en-US" altLang="ko-KR" b="1" spc="-1" dirty="0">
                <a:solidFill>
                  <a:schemeClr val="tx1"/>
                </a:solidFill>
              </a:rPr>
              <a:t> </a:t>
            </a:r>
            <a:r>
              <a:rPr lang="en-US" altLang="ko-KR" b="1" spc="-1" dirty="0" err="1">
                <a:solidFill>
                  <a:schemeClr val="tx1"/>
                </a:solidFill>
              </a:rPr>
              <a:t>것이다</a:t>
            </a:r>
            <a:r>
              <a:rPr lang="en-US" altLang="ko-KR" b="1" spc="-1" dirty="0">
                <a:solidFill>
                  <a:schemeClr val="tx1"/>
                </a:solidFill>
              </a:rPr>
              <a:t>.</a:t>
            </a:r>
          </a:p>
          <a:p>
            <a:endParaRPr lang="en-US" altLang="ko-KR" b="1" spc="-1" dirty="0">
              <a:solidFill>
                <a:schemeClr val="tx1"/>
              </a:solidFill>
            </a:endParaRPr>
          </a:p>
          <a:p>
            <a:r>
              <a:rPr lang="en-US" altLang="ko-KR" b="1" spc="-1" dirty="0">
                <a:solidFill>
                  <a:schemeClr val="tx1"/>
                </a:solidFill>
              </a:rPr>
              <a:t>       &lt;</a:t>
            </a:r>
            <a:r>
              <a:rPr lang="ko-KR" altLang="en-US" b="1" spc="-1" dirty="0">
                <a:solidFill>
                  <a:schemeClr val="tx1"/>
                </a:solidFill>
              </a:rPr>
              <a:t>가설</a:t>
            </a:r>
            <a:r>
              <a:rPr lang="en-US" altLang="ko-KR" b="1" spc="-1" dirty="0">
                <a:solidFill>
                  <a:schemeClr val="tx1"/>
                </a:solidFill>
              </a:rPr>
              <a:t>4&gt;  </a:t>
            </a:r>
            <a:r>
              <a:rPr lang="en-US" altLang="ko-KR" b="1" spc="-1" dirty="0" err="1">
                <a:solidFill>
                  <a:schemeClr val="tx1"/>
                </a:solidFill>
              </a:rPr>
              <a:t>산화질소</a:t>
            </a:r>
            <a:r>
              <a:rPr lang="en-US" altLang="ko-KR" b="1" spc="-1" dirty="0">
                <a:solidFill>
                  <a:schemeClr val="tx1"/>
                </a:solidFill>
              </a:rPr>
              <a:t> </a:t>
            </a:r>
            <a:r>
              <a:rPr lang="en-US" altLang="ko-KR" b="1" spc="-1" dirty="0" err="1">
                <a:solidFill>
                  <a:schemeClr val="tx1"/>
                </a:solidFill>
              </a:rPr>
              <a:t>농도가</a:t>
            </a:r>
            <a:r>
              <a:rPr lang="en-US" altLang="ko-KR" b="1" spc="-1" dirty="0">
                <a:solidFill>
                  <a:schemeClr val="tx1"/>
                </a:solidFill>
              </a:rPr>
              <a:t> </a:t>
            </a:r>
            <a:r>
              <a:rPr lang="en-US" altLang="ko-KR" b="1" spc="-1" dirty="0" err="1">
                <a:solidFill>
                  <a:schemeClr val="tx1"/>
                </a:solidFill>
              </a:rPr>
              <a:t>높을수록</a:t>
            </a:r>
            <a:r>
              <a:rPr lang="en-US" altLang="ko-KR" b="1" spc="-1" dirty="0">
                <a:solidFill>
                  <a:schemeClr val="tx1"/>
                </a:solidFill>
              </a:rPr>
              <a:t> </a:t>
            </a:r>
            <a:r>
              <a:rPr lang="en-US" altLang="ko-KR" b="1" spc="-1" dirty="0" err="1">
                <a:solidFill>
                  <a:schemeClr val="tx1"/>
                </a:solidFill>
              </a:rPr>
              <a:t>집값이</a:t>
            </a:r>
            <a:r>
              <a:rPr lang="en-US" altLang="ko-KR" b="1" spc="-1" dirty="0">
                <a:solidFill>
                  <a:schemeClr val="tx1"/>
                </a:solidFill>
              </a:rPr>
              <a:t> </a:t>
            </a:r>
            <a:r>
              <a:rPr lang="en-US" altLang="ko-KR" b="1" spc="-1" dirty="0" err="1">
                <a:solidFill>
                  <a:schemeClr val="tx1"/>
                </a:solidFill>
              </a:rPr>
              <a:t>낮을</a:t>
            </a:r>
            <a:r>
              <a:rPr lang="en-US" altLang="ko-KR" b="1" spc="-1" dirty="0">
                <a:solidFill>
                  <a:schemeClr val="tx1"/>
                </a:solidFill>
              </a:rPr>
              <a:t> </a:t>
            </a:r>
            <a:r>
              <a:rPr lang="en-US" altLang="ko-KR" b="1" spc="-1" dirty="0" err="1">
                <a:solidFill>
                  <a:schemeClr val="tx1"/>
                </a:solidFill>
              </a:rPr>
              <a:t>것이다</a:t>
            </a:r>
            <a:r>
              <a:rPr lang="en-US" altLang="ko-KR" b="1" spc="-1" dirty="0">
                <a:solidFill>
                  <a:schemeClr val="tx1"/>
                </a:solidFill>
              </a:rPr>
              <a:t>.</a:t>
            </a:r>
          </a:p>
          <a:p>
            <a:pPr>
              <a:lnSpc>
                <a:spcPct val="150000"/>
              </a:lnSpc>
              <a:defRPr/>
            </a:pPr>
            <a:endParaRPr lang="en-US" altLang="ko-KR" sz="13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CustomShape 1"/>
          <p:cNvSpPr/>
          <p:nvPr/>
        </p:nvSpPr>
        <p:spPr>
          <a:xfrm>
            <a:off x="5988600" y="215640"/>
            <a:ext cx="3723120" cy="27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en-US" sz="1600" b="0" i="1" strike="noStrike" spc="-1">
                <a:solidFill>
                  <a:srgbClr val="002060"/>
                </a:solidFill>
                <a:latin typeface="HY견고딕"/>
                <a:ea typeface="HY견고딕"/>
              </a:rPr>
              <a:t>종합 실습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06" name="CustomShape 2"/>
          <p:cNvSpPr/>
          <p:nvPr/>
        </p:nvSpPr>
        <p:spPr>
          <a:xfrm>
            <a:off x="270720" y="132840"/>
            <a:ext cx="7778160" cy="395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2000" b="0" strike="noStrike" spc="-97">
                <a:solidFill>
                  <a:srgbClr val="002060"/>
                </a:solidFill>
                <a:latin typeface="HY견고딕"/>
                <a:ea typeface="HY견고딕"/>
              </a:rPr>
              <a:t>분석 계획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07" name="CustomShape 3"/>
          <p:cNvSpPr/>
          <p:nvPr/>
        </p:nvSpPr>
        <p:spPr>
          <a:xfrm>
            <a:off x="414155" y="914399"/>
            <a:ext cx="5279635" cy="56560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50000"/>
              </a:lnSpc>
            </a:pP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1.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가설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설정</a:t>
            </a:r>
            <a:endParaRPr lang="en-US" sz="1400" b="1" strike="noStrike" spc="-1" dirty="0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2.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데이터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가져오기</a:t>
            </a:r>
            <a:endParaRPr lang="en-US" sz="1400" b="1" strike="noStrike" spc="-1" dirty="0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3.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데이터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품질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확인</a:t>
            </a:r>
            <a:endParaRPr lang="en-US" sz="1400" b="1" strike="noStrike" spc="-1" dirty="0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4.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결측치는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존재하지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않음</a:t>
            </a:r>
            <a:endParaRPr lang="en-US" sz="1400" b="1" strike="noStrike" spc="-1" dirty="0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5.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그럼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이상치는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어떻게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처리해야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할까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?</a:t>
            </a:r>
            <a:endParaRPr lang="en-US" sz="1400" b="1" strike="noStrike" spc="-1" dirty="0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6.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전체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그래프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탐색</a:t>
            </a:r>
            <a:endParaRPr lang="en-US" sz="1400" b="1" strike="noStrike" spc="-1" dirty="0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7.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회귀모델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생성</a:t>
            </a:r>
            <a:endParaRPr lang="en-US" sz="1400" b="1" strike="noStrike" spc="-1" dirty="0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8.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VIF를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통한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다중공선성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확인</a:t>
            </a:r>
            <a:endParaRPr lang="en-US" sz="1400" b="1" strike="noStrike" spc="-1" dirty="0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9.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제시된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설명변수들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각각의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 P-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value값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확인하여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변수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추리기</a:t>
            </a:r>
            <a:endParaRPr lang="en-US" sz="1400" b="1" strike="noStrike" spc="-1" dirty="0">
              <a:solidFill>
                <a:srgbClr val="000000"/>
              </a:solidFill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10.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모델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재구축</a:t>
            </a:r>
            <a:endParaRPr lang="en-US" sz="1400" b="1" strike="noStrike" spc="-1" dirty="0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  <a:ea typeface="Noto Sans CJK SC"/>
              </a:rPr>
              <a:t>11.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  <a:ea typeface="Noto Sans CJK SC"/>
              </a:rPr>
              <a:t>다중공선성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  <a:ea typeface="Noto Sans CJK SC"/>
              </a:rPr>
              <a:t>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  <a:ea typeface="Noto Sans CJK SC"/>
              </a:rPr>
              <a:t>재확인</a:t>
            </a:r>
            <a:endParaRPr lang="en-US" sz="1400" b="1" strike="noStrike" spc="-1" dirty="0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12. P-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value값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다시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재확인해서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변수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추리기</a:t>
            </a:r>
            <a:endParaRPr lang="en-US" sz="1400" b="1" strike="noStrike" spc="-1" dirty="0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13.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최종모델</a:t>
            </a:r>
            <a:endParaRPr lang="en-US" sz="1400" b="1" strike="noStrike" spc="-1" dirty="0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14.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스케일링을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통한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변수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중요도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재확인</a:t>
            </a:r>
            <a:endParaRPr lang="en-US" sz="1400" b="1" strike="noStrike" spc="-1" dirty="0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15.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여러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예측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모델을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생성하여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정확도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확인</a:t>
            </a:r>
            <a:endParaRPr lang="en-US" sz="1400" b="1" strike="noStrike" spc="-1" dirty="0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16.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그래프를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통한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여러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예측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모델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정확도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비교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 및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평가</a:t>
            </a:r>
            <a:endParaRPr lang="en-US" sz="1400" b="1" strike="noStrike" spc="-1" dirty="0"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17.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집값과의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상관관계</a:t>
            </a:r>
            <a:r>
              <a:rPr lang="en-US" sz="1400" b="1" strike="noStrike" spc="-1" dirty="0">
                <a:solidFill>
                  <a:srgbClr val="000000"/>
                </a:solidFill>
                <a:latin typeface="맑은 고딕"/>
              </a:rPr>
              <a:t> 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맑은 고딕"/>
              </a:rPr>
              <a:t>분석</a:t>
            </a:r>
            <a:endParaRPr lang="en-US" sz="1400" b="1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CustomShape 1"/>
          <p:cNvSpPr/>
          <p:nvPr/>
        </p:nvSpPr>
        <p:spPr>
          <a:xfrm>
            <a:off x="5988600" y="215640"/>
            <a:ext cx="3723120" cy="27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en-US" sz="1600" b="0" i="1" strike="noStrike" spc="-1">
                <a:solidFill>
                  <a:srgbClr val="002060"/>
                </a:solidFill>
                <a:latin typeface="HY견고딕"/>
                <a:ea typeface="HY견고딕"/>
              </a:rPr>
              <a:t>종합 실습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10" name="CustomShape 2"/>
          <p:cNvSpPr/>
          <p:nvPr/>
        </p:nvSpPr>
        <p:spPr>
          <a:xfrm>
            <a:off x="270720" y="132840"/>
            <a:ext cx="7778160" cy="395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2000" b="0" strike="noStrike" spc="-97" dirty="0" err="1">
                <a:solidFill>
                  <a:srgbClr val="002060"/>
                </a:solidFill>
                <a:latin typeface="HY견고딕"/>
                <a:ea typeface="HY견고딕"/>
              </a:rPr>
              <a:t>데이터</a:t>
            </a:r>
            <a:r>
              <a:rPr lang="en-US" sz="2000" b="0" strike="noStrike" spc="-97" dirty="0">
                <a:solidFill>
                  <a:srgbClr val="002060"/>
                </a:solidFill>
                <a:latin typeface="HY견고딕"/>
                <a:ea typeface="HY견고딕"/>
              </a:rPr>
              <a:t> </a:t>
            </a:r>
            <a:r>
              <a:rPr lang="ko-KR" altLang="en-US" sz="2000" b="0" strike="noStrike" spc="-97" dirty="0">
                <a:solidFill>
                  <a:srgbClr val="002060"/>
                </a:solidFill>
                <a:latin typeface="HY견고딕"/>
                <a:ea typeface="HY견고딕"/>
              </a:rPr>
              <a:t>현황</a:t>
            </a:r>
            <a:endParaRPr lang="en-US" sz="2000" b="0" strike="noStrike" spc="-1" dirty="0">
              <a:latin typeface="Arial"/>
            </a:endParaRPr>
          </a:p>
        </p:txBody>
      </p:sp>
      <p:sp>
        <p:nvSpPr>
          <p:cNvPr id="111" name="CustomShape 3"/>
          <p:cNvSpPr/>
          <p:nvPr/>
        </p:nvSpPr>
        <p:spPr>
          <a:xfrm>
            <a:off x="769320" y="1470972"/>
            <a:ext cx="8165958" cy="4583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64F95F-5280-48A5-880B-7B025E77D914}"/>
              </a:ext>
            </a:extLst>
          </p:cNvPr>
          <p:cNvSpPr txBox="1"/>
          <p:nvPr/>
        </p:nvSpPr>
        <p:spPr>
          <a:xfrm>
            <a:off x="769320" y="5530185"/>
            <a:ext cx="8367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+mj-lt"/>
              </a:rPr>
              <a:t>데이터 표를 살펴보았을 때 </a:t>
            </a:r>
            <a:r>
              <a:rPr lang="en-US" altLang="ko-KR" b="1" dirty="0">
                <a:latin typeface="+mj-lt"/>
              </a:rPr>
              <a:t>“</a:t>
            </a:r>
            <a:r>
              <a:rPr lang="ko-KR" altLang="en-US" b="1" dirty="0">
                <a:latin typeface="+mj-lt"/>
              </a:rPr>
              <a:t>비율</a:t>
            </a:r>
            <a:r>
              <a:rPr lang="en-US" altLang="ko-KR" b="1" dirty="0">
                <a:latin typeface="+mj-lt"/>
              </a:rPr>
              <a:t>”</a:t>
            </a:r>
            <a:r>
              <a:rPr lang="ko-KR" altLang="en-US" b="1" dirty="0">
                <a:latin typeface="+mj-lt"/>
              </a:rPr>
              <a:t>형식인 흑인 인구 비율</a:t>
            </a:r>
            <a:r>
              <a:rPr lang="en-US" altLang="ko-KR" b="1" dirty="0">
                <a:latin typeface="+mj-lt"/>
              </a:rPr>
              <a:t>(‘B’)</a:t>
            </a:r>
            <a:r>
              <a:rPr lang="ko-KR" altLang="en-US" b="1" dirty="0">
                <a:latin typeface="+mj-lt"/>
              </a:rPr>
              <a:t>과 재산세율</a:t>
            </a:r>
            <a:r>
              <a:rPr lang="en-US" altLang="ko-KR" b="1" dirty="0">
                <a:latin typeface="+mj-lt"/>
              </a:rPr>
              <a:t>(‘TAX’)</a:t>
            </a:r>
            <a:r>
              <a:rPr lang="ko-KR" altLang="en-US" b="1" dirty="0">
                <a:latin typeface="+mj-lt"/>
              </a:rPr>
              <a:t> 변수의 값이 </a:t>
            </a:r>
            <a:r>
              <a:rPr lang="en-US" altLang="ko-KR" b="1" dirty="0">
                <a:latin typeface="+mj-lt"/>
              </a:rPr>
              <a:t>0~1</a:t>
            </a:r>
            <a:r>
              <a:rPr lang="ko-KR" altLang="en-US" b="1" dirty="0">
                <a:latin typeface="+mj-lt"/>
              </a:rPr>
              <a:t>사이 값이 아니라 </a:t>
            </a:r>
            <a:r>
              <a:rPr lang="en-US" altLang="ko-KR" b="1" dirty="0">
                <a:latin typeface="+mj-lt"/>
              </a:rPr>
              <a:t>“</a:t>
            </a:r>
            <a:r>
              <a:rPr lang="ko-KR" altLang="en-US" b="1" dirty="0">
                <a:latin typeface="+mj-lt"/>
              </a:rPr>
              <a:t>양</a:t>
            </a:r>
            <a:r>
              <a:rPr lang="en-US" altLang="ko-KR" b="1" dirty="0">
                <a:latin typeface="+mj-lt"/>
              </a:rPr>
              <a:t>” </a:t>
            </a:r>
            <a:r>
              <a:rPr lang="ko-KR" altLang="en-US" b="1" dirty="0">
                <a:latin typeface="+mj-lt"/>
              </a:rPr>
              <a:t>값이어서 각각의 관련식을</a:t>
            </a:r>
            <a:r>
              <a:rPr lang="en-US" altLang="ko-KR" b="1" dirty="0">
                <a:latin typeface="+mj-lt"/>
              </a:rPr>
              <a:t> </a:t>
            </a:r>
            <a:r>
              <a:rPr lang="ko-KR" altLang="en-US" b="1" dirty="0">
                <a:latin typeface="+mj-lt"/>
              </a:rPr>
              <a:t>고려하여 다음과 같이 데이터 변형하였다</a:t>
            </a:r>
            <a:r>
              <a:rPr lang="en-US" altLang="ko-KR" b="1" dirty="0">
                <a:latin typeface="+mj-lt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7BD1F3E-668C-4E88-B955-5106654689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870" y="1498581"/>
            <a:ext cx="8355383" cy="94252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C6540C4-847A-444B-8689-FAEAFF4006E7}"/>
              </a:ext>
            </a:extLst>
          </p:cNvPr>
          <p:cNvSpPr txBox="1"/>
          <p:nvPr/>
        </p:nvSpPr>
        <p:spPr>
          <a:xfrm>
            <a:off x="452484" y="861673"/>
            <a:ext cx="2752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데이터 품질확인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626BC4C-110D-4A64-978B-D1A6944919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930" y="2771006"/>
            <a:ext cx="2364560" cy="249756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1031158-7E78-41DE-B0B2-DE160C8076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8600" y="2776653"/>
            <a:ext cx="2310967" cy="2497567"/>
          </a:xfrm>
          <a:prstGeom prst="rect">
            <a:avLst/>
          </a:prstGeom>
        </p:spPr>
      </p:pic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478BEAD8-A7CA-425B-8960-1B547746F5D6}"/>
              </a:ext>
            </a:extLst>
          </p:cNvPr>
          <p:cNvSpPr/>
          <p:nvPr/>
        </p:nvSpPr>
        <p:spPr>
          <a:xfrm>
            <a:off x="4404709" y="3817856"/>
            <a:ext cx="948180" cy="29304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2696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CustomShape 1"/>
          <p:cNvSpPr/>
          <p:nvPr/>
        </p:nvSpPr>
        <p:spPr>
          <a:xfrm>
            <a:off x="5988600" y="215640"/>
            <a:ext cx="3723120" cy="27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en-US" sz="1600" b="0" i="1" strike="noStrike" spc="-1">
                <a:solidFill>
                  <a:srgbClr val="002060"/>
                </a:solidFill>
                <a:latin typeface="HY견고딕"/>
                <a:ea typeface="HY견고딕"/>
              </a:rPr>
              <a:t>종합 실습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10" name="CustomShape 2"/>
          <p:cNvSpPr/>
          <p:nvPr/>
        </p:nvSpPr>
        <p:spPr>
          <a:xfrm>
            <a:off x="270720" y="132840"/>
            <a:ext cx="7778160" cy="395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2000" b="0" strike="noStrike" spc="-97" dirty="0" err="1">
                <a:solidFill>
                  <a:srgbClr val="002060"/>
                </a:solidFill>
                <a:latin typeface="HY견고딕"/>
                <a:ea typeface="HY견고딕"/>
              </a:rPr>
              <a:t>데이터</a:t>
            </a:r>
            <a:r>
              <a:rPr lang="ko-KR" altLang="en-US" sz="2000" b="0" strike="noStrike" spc="-97" dirty="0">
                <a:solidFill>
                  <a:srgbClr val="002060"/>
                </a:solidFill>
                <a:latin typeface="HY견고딕"/>
                <a:ea typeface="HY견고딕"/>
              </a:rPr>
              <a:t> </a:t>
            </a:r>
            <a:r>
              <a:rPr lang="en-US" sz="2000" b="0" strike="noStrike" spc="-97" dirty="0" err="1">
                <a:solidFill>
                  <a:srgbClr val="002060"/>
                </a:solidFill>
                <a:latin typeface="HY견고딕"/>
                <a:ea typeface="HY견고딕"/>
              </a:rPr>
              <a:t>현황</a:t>
            </a:r>
            <a:endParaRPr lang="en-US" sz="2000" b="0" strike="noStrike" spc="-1" dirty="0">
              <a:latin typeface="Arial"/>
            </a:endParaRPr>
          </a:p>
        </p:txBody>
      </p:sp>
      <p:sp>
        <p:nvSpPr>
          <p:cNvPr id="111" name="CustomShape 3"/>
          <p:cNvSpPr/>
          <p:nvPr/>
        </p:nvSpPr>
        <p:spPr>
          <a:xfrm>
            <a:off x="769320" y="1621800"/>
            <a:ext cx="8165958" cy="4583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</p:txBody>
      </p:sp>
      <p:pic>
        <p:nvPicPr>
          <p:cNvPr id="3" name="그림 2" descr="스크린샷이(가) 표시된 사진&#10;&#10;자동 생성된 설명">
            <a:extLst>
              <a:ext uri="{FF2B5EF4-FFF2-40B4-BE49-F238E27FC236}">
                <a16:creationId xmlns:a16="http://schemas.microsoft.com/office/drawing/2014/main" id="{555FEC76-F3B6-44DC-8666-B9DC5348F8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96" y="1592154"/>
            <a:ext cx="2303876" cy="3507010"/>
          </a:xfrm>
          <a:prstGeom prst="rect">
            <a:avLst/>
          </a:prstGeom>
        </p:spPr>
      </p:pic>
      <p:pic>
        <p:nvPicPr>
          <p:cNvPr id="5" name="그림 4" descr="테이블, 앉아있는, 대형, 남자이(가) 표시된 사진&#10;&#10;자동 생성된 설명">
            <a:extLst>
              <a:ext uri="{FF2B5EF4-FFF2-40B4-BE49-F238E27FC236}">
                <a16:creationId xmlns:a16="http://schemas.microsoft.com/office/drawing/2014/main" id="{80E45CFB-B85C-41B7-AD6C-0E687B2105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3196" y="1645904"/>
            <a:ext cx="6312633" cy="354157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902C45B-11F2-494B-A573-E8771D0B8F3A}"/>
              </a:ext>
            </a:extLst>
          </p:cNvPr>
          <p:cNvSpPr/>
          <p:nvPr/>
        </p:nvSpPr>
        <p:spPr>
          <a:xfrm>
            <a:off x="1217619" y="5605472"/>
            <a:ext cx="76247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ko-KR" altLang="en-US" b="1" spc="-1" dirty="0" err="1"/>
              <a:t>결측치는</a:t>
            </a:r>
            <a:r>
              <a:rPr lang="ko-KR" altLang="en-US" b="1" spc="-1" dirty="0"/>
              <a:t> 없으나</a:t>
            </a:r>
            <a:r>
              <a:rPr lang="en-US" altLang="ko-KR" b="1" spc="-1" dirty="0"/>
              <a:t> </a:t>
            </a:r>
            <a:r>
              <a:rPr lang="ko-KR" altLang="en-US" b="1" spc="-1" dirty="0"/>
              <a:t>이상치는 많은 변수 각각에서 상당 부분</a:t>
            </a:r>
            <a:r>
              <a:rPr lang="en-US" altLang="ko-KR" b="1" spc="-1" dirty="0"/>
              <a:t> </a:t>
            </a:r>
            <a:r>
              <a:rPr lang="ko-KR" altLang="en-US" b="1" spc="-1" dirty="0"/>
              <a:t>존재하고 있음</a:t>
            </a:r>
            <a:r>
              <a:rPr lang="en-US" altLang="ko-KR" b="1" spc="-1" dirty="0"/>
              <a:t>.</a:t>
            </a:r>
            <a:r>
              <a:rPr lang="ko-KR" altLang="en-US" b="1" spc="-1" dirty="0"/>
              <a:t> 정확한 원인 진단이 없어 섣불리 제거 처리하지 않고 모델을 형성하였다</a:t>
            </a:r>
            <a:r>
              <a:rPr lang="en-US" altLang="ko-KR" b="1" spc="-1" dirty="0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A8CA4C-407D-4006-8998-6DC6DB1EA4D0}"/>
              </a:ext>
            </a:extLst>
          </p:cNvPr>
          <p:cNvSpPr txBox="1"/>
          <p:nvPr/>
        </p:nvSpPr>
        <p:spPr>
          <a:xfrm>
            <a:off x="471341" y="883196"/>
            <a:ext cx="2083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이상치 처리</a:t>
            </a:r>
          </a:p>
        </p:txBody>
      </p:sp>
    </p:spTree>
    <p:extLst>
      <p:ext uri="{BB962C8B-B14F-4D97-AF65-F5344CB8AC3E}">
        <p14:creationId xmlns:p14="http://schemas.microsoft.com/office/powerpoint/2010/main" val="2714986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CustomShape 1"/>
          <p:cNvSpPr/>
          <p:nvPr/>
        </p:nvSpPr>
        <p:spPr>
          <a:xfrm>
            <a:off x="5988600" y="215640"/>
            <a:ext cx="3723120" cy="27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en-US" sz="1600" b="0" i="1" strike="noStrike" spc="-1">
                <a:solidFill>
                  <a:srgbClr val="002060"/>
                </a:solidFill>
                <a:latin typeface="HY견고딕"/>
                <a:ea typeface="HY견고딕"/>
              </a:rPr>
              <a:t>종합 실습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10" name="CustomShape 2"/>
          <p:cNvSpPr/>
          <p:nvPr/>
        </p:nvSpPr>
        <p:spPr>
          <a:xfrm>
            <a:off x="270720" y="132840"/>
            <a:ext cx="7778160" cy="395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2000" b="0" strike="noStrike" spc="-97" dirty="0" err="1">
                <a:solidFill>
                  <a:srgbClr val="002060"/>
                </a:solidFill>
                <a:latin typeface="HY견고딕"/>
                <a:ea typeface="HY견고딕"/>
              </a:rPr>
              <a:t>데이터</a:t>
            </a:r>
            <a:r>
              <a:rPr lang="en-US" sz="2000" b="0" strike="noStrike" spc="-97" dirty="0">
                <a:solidFill>
                  <a:srgbClr val="002060"/>
                </a:solidFill>
                <a:latin typeface="HY견고딕"/>
                <a:ea typeface="HY견고딕"/>
              </a:rPr>
              <a:t> </a:t>
            </a:r>
            <a:r>
              <a:rPr lang="ko-KR" altLang="en-US" sz="2000" spc="-97" dirty="0">
                <a:solidFill>
                  <a:srgbClr val="002060"/>
                </a:solidFill>
                <a:latin typeface="HY견고딕"/>
                <a:ea typeface="HY견고딕"/>
              </a:rPr>
              <a:t>분석</a:t>
            </a:r>
            <a:endParaRPr lang="en-US" sz="2000" b="0" strike="noStrike" spc="-1" dirty="0">
              <a:latin typeface="Arial"/>
            </a:endParaRPr>
          </a:p>
        </p:txBody>
      </p:sp>
      <p:sp>
        <p:nvSpPr>
          <p:cNvPr id="111" name="CustomShape 3"/>
          <p:cNvSpPr/>
          <p:nvPr/>
        </p:nvSpPr>
        <p:spPr>
          <a:xfrm>
            <a:off x="769320" y="1621800"/>
            <a:ext cx="8165958" cy="4583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64F95F-5280-48A5-880B-7B025E77D914}"/>
              </a:ext>
            </a:extLst>
          </p:cNvPr>
          <p:cNvSpPr txBox="1"/>
          <p:nvPr/>
        </p:nvSpPr>
        <p:spPr>
          <a:xfrm>
            <a:off x="1108325" y="5236200"/>
            <a:ext cx="67633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히스토그램</a:t>
            </a:r>
            <a:r>
              <a:rPr lang="en-US" altLang="ko-KR" b="1" dirty="0"/>
              <a:t>, </a:t>
            </a:r>
            <a:r>
              <a:rPr lang="ko-KR" altLang="en-US" b="1" dirty="0" err="1"/>
              <a:t>히트맵</a:t>
            </a:r>
            <a:r>
              <a:rPr lang="en-US" altLang="ko-KR" b="1" dirty="0"/>
              <a:t>, </a:t>
            </a:r>
            <a:r>
              <a:rPr lang="ko-KR" altLang="en-US" b="1" dirty="0"/>
              <a:t>그래프를 이용하여 다수의 연속형 변수 간의</a:t>
            </a:r>
            <a:endParaRPr lang="en-US" altLang="ko-KR" b="1" dirty="0"/>
          </a:p>
          <a:p>
            <a:r>
              <a:rPr lang="ko-KR" altLang="en-US" b="1" dirty="0"/>
              <a:t> 분포</a:t>
            </a:r>
            <a:r>
              <a:rPr lang="en-US" altLang="ko-KR" b="1" dirty="0"/>
              <a:t>, </a:t>
            </a:r>
            <a:r>
              <a:rPr lang="ko-KR" altLang="en-US" b="1" dirty="0"/>
              <a:t>패턴</a:t>
            </a:r>
            <a:r>
              <a:rPr lang="en-US" altLang="ko-KR" b="1" dirty="0"/>
              <a:t>, </a:t>
            </a:r>
            <a:r>
              <a:rPr lang="ko-KR" altLang="en-US" b="1" dirty="0"/>
              <a:t>관계 등을</a:t>
            </a:r>
            <a:r>
              <a:rPr lang="en-US" altLang="ko-KR" b="1" dirty="0"/>
              <a:t> </a:t>
            </a:r>
            <a:r>
              <a:rPr lang="ko-KR" altLang="en-US" b="1" dirty="0"/>
              <a:t>파악하였다</a:t>
            </a:r>
            <a:r>
              <a:rPr lang="en-US" altLang="ko-KR" b="1" dirty="0"/>
              <a:t>.</a:t>
            </a:r>
            <a:r>
              <a:rPr lang="ko-KR" altLang="en-US" b="1" dirty="0"/>
              <a:t> </a:t>
            </a:r>
            <a:endParaRPr lang="en-US" altLang="ko-KR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D9B54F0-6085-4D4B-9154-4A0013F51E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1350290"/>
            <a:ext cx="3960202" cy="3185117"/>
          </a:xfrm>
          <a:prstGeom prst="rect">
            <a:avLst/>
          </a:prstGeom>
        </p:spPr>
      </p:pic>
      <p:pic>
        <p:nvPicPr>
          <p:cNvPr id="7" name="그림 6" descr="캐비닛이(가) 표시된 사진&#10;&#10;자동 생성된 설명">
            <a:extLst>
              <a:ext uri="{FF2B5EF4-FFF2-40B4-BE49-F238E27FC236}">
                <a16:creationId xmlns:a16="http://schemas.microsoft.com/office/drawing/2014/main" id="{13820F5D-C0D3-4617-9687-9157246367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320" y="1360213"/>
            <a:ext cx="3361191" cy="32896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54A7BA-CC40-438B-BD0A-517605D2CACE}"/>
              </a:ext>
            </a:extLst>
          </p:cNvPr>
          <p:cNvSpPr txBox="1"/>
          <p:nvPr/>
        </p:nvSpPr>
        <p:spPr>
          <a:xfrm>
            <a:off x="480767" y="814742"/>
            <a:ext cx="5967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/>
              <a:t>변수의 분포 및 목표변수와의 상관성 탐색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9137576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CustomShape 1"/>
          <p:cNvSpPr/>
          <p:nvPr/>
        </p:nvSpPr>
        <p:spPr>
          <a:xfrm>
            <a:off x="5988600" y="215640"/>
            <a:ext cx="3723120" cy="27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en-US" sz="1600" b="0" i="1" strike="noStrike" spc="-1">
                <a:solidFill>
                  <a:srgbClr val="002060"/>
                </a:solidFill>
                <a:latin typeface="HY견고딕"/>
                <a:ea typeface="HY견고딕"/>
              </a:rPr>
              <a:t>종합 실습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14" name="CustomShape 2"/>
          <p:cNvSpPr/>
          <p:nvPr/>
        </p:nvSpPr>
        <p:spPr>
          <a:xfrm>
            <a:off x="270720" y="132840"/>
            <a:ext cx="7778160" cy="395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2000" b="0" strike="noStrike" spc="-97">
                <a:solidFill>
                  <a:srgbClr val="002060"/>
                </a:solidFill>
                <a:latin typeface="HY견고딕"/>
                <a:ea typeface="HY견고딕"/>
              </a:rPr>
              <a:t>탐색적 분석</a:t>
            </a:r>
            <a:endParaRPr lang="en-US" sz="2000" b="0" strike="noStrike" spc="-1">
              <a:latin typeface="Arial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D035A24-CDDC-464C-9F06-801DEC9DC5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340" y="1852072"/>
            <a:ext cx="8680697" cy="18106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0EC4A02-622E-4685-B102-0DD16887D0EA}"/>
              </a:ext>
            </a:extLst>
          </p:cNvPr>
          <p:cNvSpPr txBox="1"/>
          <p:nvPr/>
        </p:nvSpPr>
        <p:spPr>
          <a:xfrm>
            <a:off x="471340" y="970961"/>
            <a:ext cx="7852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MEDV </a:t>
            </a:r>
            <a:r>
              <a:rPr lang="ko-KR" altLang="en-US" sz="2000" b="1" dirty="0"/>
              <a:t>와</a:t>
            </a:r>
            <a:r>
              <a:rPr lang="en-US" altLang="ko-KR" sz="2000" b="1" dirty="0"/>
              <a:t> CRIM, ZN, INDUS, CHAS, NOX</a:t>
            </a:r>
            <a:r>
              <a:rPr lang="ko-KR" altLang="en-US" sz="2000" b="1" dirty="0"/>
              <a:t>간의 상관성 탐색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D5BF79-BF3E-4CDB-92D7-F86707A4E115}"/>
              </a:ext>
            </a:extLst>
          </p:cNvPr>
          <p:cNvSpPr txBox="1"/>
          <p:nvPr/>
        </p:nvSpPr>
        <p:spPr>
          <a:xfrm>
            <a:off x="838986" y="4208225"/>
            <a:ext cx="8069344" cy="2118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/>
              <a:t>CRIM: 1</a:t>
            </a:r>
            <a:r>
              <a:rPr lang="ko-KR" altLang="en-US" b="1" dirty="0"/>
              <a:t>인당 범죄율이 높은 지역일 수록 주택가격이 높을 것이라 예상된다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/>
              <a:t>ZN: </a:t>
            </a:r>
            <a:r>
              <a:rPr lang="ko-KR" altLang="en-US" b="1" dirty="0"/>
              <a:t>주거지 비율은 주택가격과 큰 상관성이 없다고 보여진다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/>
              <a:t>INDUS: </a:t>
            </a:r>
            <a:r>
              <a:rPr lang="ko-KR" altLang="en-US" b="1" dirty="0" err="1"/>
              <a:t>비주거</a:t>
            </a:r>
            <a:r>
              <a:rPr lang="ko-KR" altLang="en-US" b="1" dirty="0"/>
              <a:t> 상업지역이 밀집된 지역의 경우는 주택가격이 낮다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/>
              <a:t>CHAS: </a:t>
            </a:r>
            <a:r>
              <a:rPr lang="ko-KR" altLang="en-US" b="1" dirty="0"/>
              <a:t>강 조망의 경우 큰 상관성을 찾을 수 없다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/>
              <a:t>NOX: </a:t>
            </a:r>
            <a:r>
              <a:rPr lang="ko-KR" altLang="en-US" b="1" dirty="0"/>
              <a:t>산화질소 농도가 높을수록 주택가격은 감소하는 추세를 보인다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CustomShape 1"/>
          <p:cNvSpPr/>
          <p:nvPr/>
        </p:nvSpPr>
        <p:spPr>
          <a:xfrm>
            <a:off x="5988600" y="215640"/>
            <a:ext cx="3723120" cy="27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en-US" sz="1600" b="0" i="1" strike="noStrike" spc="-1">
                <a:solidFill>
                  <a:srgbClr val="002060"/>
                </a:solidFill>
                <a:latin typeface="HY견고딕"/>
                <a:ea typeface="HY견고딕"/>
              </a:rPr>
              <a:t>종합 실습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14" name="CustomShape 2"/>
          <p:cNvSpPr/>
          <p:nvPr/>
        </p:nvSpPr>
        <p:spPr>
          <a:xfrm>
            <a:off x="270720" y="132840"/>
            <a:ext cx="7778160" cy="395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2000" b="0" strike="noStrike" spc="-97">
                <a:solidFill>
                  <a:srgbClr val="002060"/>
                </a:solidFill>
                <a:latin typeface="HY견고딕"/>
                <a:ea typeface="HY견고딕"/>
              </a:rPr>
              <a:t>탐색적 분석</a:t>
            </a:r>
            <a:endParaRPr lang="en-US" sz="2000" b="0" strike="noStrike" spc="-1">
              <a:latin typeface="Arial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B792663-8A5E-4E0F-BB07-8FA889690C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186" y="1710670"/>
            <a:ext cx="7993628" cy="22016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C820D4-1815-4BB8-AD6C-D1532E990023}"/>
              </a:ext>
            </a:extLst>
          </p:cNvPr>
          <p:cNvSpPr txBox="1"/>
          <p:nvPr/>
        </p:nvSpPr>
        <p:spPr>
          <a:xfrm>
            <a:off x="471340" y="970961"/>
            <a:ext cx="7852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MEDV </a:t>
            </a:r>
            <a:r>
              <a:rPr lang="ko-KR" altLang="en-US" sz="2000" b="1" dirty="0"/>
              <a:t>와</a:t>
            </a:r>
            <a:r>
              <a:rPr lang="en-US" altLang="ko-KR" sz="2000" b="1" dirty="0"/>
              <a:t> RM, AGE, DIS, RAD</a:t>
            </a:r>
            <a:r>
              <a:rPr lang="ko-KR" altLang="en-US" sz="2000" b="1" dirty="0"/>
              <a:t>간의 상관성 탐색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BE489F-D439-43AC-896B-3FB4D3BA378B}"/>
              </a:ext>
            </a:extLst>
          </p:cNvPr>
          <p:cNvSpPr txBox="1"/>
          <p:nvPr/>
        </p:nvSpPr>
        <p:spPr>
          <a:xfrm>
            <a:off x="838986" y="4208225"/>
            <a:ext cx="8191892" cy="2118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/>
              <a:t>RN: </a:t>
            </a:r>
            <a:r>
              <a:rPr lang="ko-KR" altLang="en-US" b="1" dirty="0"/>
              <a:t>가구당 평균 방 수가 많을수록 주택가격이 높아진다</a:t>
            </a:r>
            <a:r>
              <a:rPr lang="en-US" altLang="ko-KR" b="1" dirty="0"/>
              <a:t>(</a:t>
            </a:r>
            <a:r>
              <a:rPr lang="ko-KR" altLang="en-US" b="1" dirty="0"/>
              <a:t>큰 상관성을 가짐</a:t>
            </a:r>
            <a:r>
              <a:rPr lang="en-US" altLang="ko-KR" b="1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/>
              <a:t>AGE: </a:t>
            </a:r>
            <a:r>
              <a:rPr lang="ko-KR" altLang="en-US" b="1" dirty="0"/>
              <a:t>자기 소유 집이 비율은 주택가격 형성에 큰 영향을 주지 않는다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/>
              <a:t>DIS: </a:t>
            </a:r>
            <a:r>
              <a:rPr lang="ko-KR" altLang="en-US" b="1" dirty="0"/>
              <a:t>중심지 점근거리와 주택가격 간에는 양의 상관성을 갖는다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/>
              <a:t>RAD: </a:t>
            </a:r>
            <a:r>
              <a:rPr lang="ko-KR" altLang="en-US" b="1" dirty="0"/>
              <a:t>방사형 도로 접근성 지수는 데이터의 불균형으로 유의미한 정보로 보기 힘들다</a:t>
            </a:r>
          </a:p>
        </p:txBody>
      </p:sp>
    </p:spTree>
    <p:extLst>
      <p:ext uri="{BB962C8B-B14F-4D97-AF65-F5344CB8AC3E}">
        <p14:creationId xmlns:p14="http://schemas.microsoft.com/office/powerpoint/2010/main" val="6782925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CustomShape 1"/>
          <p:cNvSpPr/>
          <p:nvPr/>
        </p:nvSpPr>
        <p:spPr>
          <a:xfrm>
            <a:off x="5988600" y="215640"/>
            <a:ext cx="3723120" cy="27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en-US" sz="1600" b="0" i="1" strike="noStrike" spc="-1">
                <a:solidFill>
                  <a:srgbClr val="002060"/>
                </a:solidFill>
                <a:latin typeface="HY견고딕"/>
                <a:ea typeface="HY견고딕"/>
              </a:rPr>
              <a:t>종합 실습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14" name="CustomShape 2"/>
          <p:cNvSpPr/>
          <p:nvPr/>
        </p:nvSpPr>
        <p:spPr>
          <a:xfrm>
            <a:off x="270720" y="132840"/>
            <a:ext cx="7778160" cy="395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2000" b="0" strike="noStrike" spc="-97">
                <a:solidFill>
                  <a:srgbClr val="002060"/>
                </a:solidFill>
                <a:latin typeface="HY견고딕"/>
                <a:ea typeface="HY견고딕"/>
              </a:rPr>
              <a:t>탐색적 분석</a:t>
            </a:r>
            <a:endParaRPr lang="en-US" sz="2000" b="0" strike="noStrike" spc="-1">
              <a:latin typeface="Arial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86FF6A5-8EDE-4512-8C6F-5788562E90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684" y="1699918"/>
            <a:ext cx="8014631" cy="22027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A723C1B-D5CF-41C5-85C9-61FAE50D6E2B}"/>
              </a:ext>
            </a:extLst>
          </p:cNvPr>
          <p:cNvSpPr txBox="1"/>
          <p:nvPr/>
        </p:nvSpPr>
        <p:spPr>
          <a:xfrm>
            <a:off x="471340" y="970961"/>
            <a:ext cx="7852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MEDV </a:t>
            </a:r>
            <a:r>
              <a:rPr lang="ko-KR" altLang="en-US" sz="2000" b="1" dirty="0"/>
              <a:t>와</a:t>
            </a:r>
            <a:r>
              <a:rPr lang="en-US" altLang="ko-KR" sz="2000" b="1" dirty="0"/>
              <a:t> TAX, PTRATIO, B, LSTAT</a:t>
            </a:r>
            <a:r>
              <a:rPr lang="ko-KR" altLang="en-US" sz="2000" b="1" dirty="0"/>
              <a:t>간의 상관성 탐색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CDB5E4-1ED2-4900-BB2B-3922C752857B}"/>
              </a:ext>
            </a:extLst>
          </p:cNvPr>
          <p:cNvSpPr txBox="1"/>
          <p:nvPr/>
        </p:nvSpPr>
        <p:spPr>
          <a:xfrm>
            <a:off x="838986" y="4208225"/>
            <a:ext cx="8191892" cy="1703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/>
              <a:t>TAX: </a:t>
            </a:r>
            <a:r>
              <a:rPr lang="ko-KR" altLang="en-US" b="1" dirty="0"/>
              <a:t>재산세율이 높은 지역의 경우 주택가격이 소폭 감소한다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 err="1"/>
              <a:t>PTRATIO</a:t>
            </a:r>
            <a:r>
              <a:rPr lang="en-US" altLang="ko-KR" b="1" dirty="0"/>
              <a:t>: </a:t>
            </a:r>
            <a:r>
              <a:rPr lang="ko-KR" altLang="en-US" b="1" dirty="0"/>
              <a:t>교사보다 학생의 비율이 높은 곳일 수록 주택가격은 하락한다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/>
              <a:t>B: </a:t>
            </a:r>
            <a:r>
              <a:rPr lang="ko-KR" altLang="en-US" b="1" dirty="0"/>
              <a:t>흑인 인구의 비율이 높을수록 주택가격은 상승한다</a:t>
            </a:r>
            <a:endParaRPr lang="en-US" altLang="ko-KR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 err="1"/>
              <a:t>LSTAT</a:t>
            </a:r>
            <a:r>
              <a:rPr lang="en-US" altLang="ko-KR" b="1" dirty="0"/>
              <a:t>: </a:t>
            </a:r>
            <a:r>
              <a:rPr lang="ko-KR" altLang="en-US" b="1" dirty="0"/>
              <a:t>저소득층 비율은 주택가격에 반비례하는 것을 확인할 수 있다</a:t>
            </a:r>
          </a:p>
        </p:txBody>
      </p:sp>
    </p:spTree>
    <p:extLst>
      <p:ext uri="{BB962C8B-B14F-4D97-AF65-F5344CB8AC3E}">
        <p14:creationId xmlns:p14="http://schemas.microsoft.com/office/powerpoint/2010/main" val="17196911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/>
          <p:cNvSpPr txBox="1">
            <a:spLocks/>
          </p:cNvSpPr>
          <p:nvPr/>
        </p:nvSpPr>
        <p:spPr bwMode="auto">
          <a:xfrm>
            <a:off x="5988710" y="215682"/>
            <a:ext cx="3723615" cy="2746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600" i="1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종합 실습</a:t>
            </a:r>
            <a:endParaRPr kumimoji="1" lang="en-US" altLang="ko-KR" sz="1600" i="1" kern="0" dirty="0">
              <a:solidFill>
                <a:srgbClr val="002060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0668" y="130870"/>
            <a:ext cx="7778676" cy="400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defRPr/>
            </a:pPr>
            <a:r>
              <a:rPr kumimoji="1" lang="ko-KR" altLang="en-US" sz="2000" kern="0" spc="-10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모델링 </a:t>
            </a:r>
            <a:r>
              <a:rPr kumimoji="1" lang="en-US" altLang="ko-KR" sz="2000" kern="0" spc="-10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&amp; </a:t>
            </a:r>
            <a:r>
              <a:rPr kumimoji="1" lang="ko-KR" altLang="en-US" sz="2000" kern="0" spc="-10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요약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B5C63B-E58A-43F3-A1BA-AE040F3D8F92}"/>
              </a:ext>
            </a:extLst>
          </p:cNvPr>
          <p:cNvSpPr txBox="1"/>
          <p:nvPr/>
        </p:nvSpPr>
        <p:spPr>
          <a:xfrm>
            <a:off x="426129" y="772355"/>
            <a:ext cx="3613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+mj-lt"/>
              </a:rPr>
              <a:t>다중선형회귀 모델 설계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04E2FD9-BB4A-4F3F-B7C8-9A5F8BCA5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762" y="1767110"/>
            <a:ext cx="4065371" cy="6586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787D4E3-0408-4A9D-8437-0F68A3C7C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29" y="1767110"/>
            <a:ext cx="4431591" cy="445220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DDEE8C3B-7622-45CD-8AE4-1E26CA674708}"/>
              </a:ext>
            </a:extLst>
          </p:cNvPr>
          <p:cNvSpPr/>
          <p:nvPr/>
        </p:nvSpPr>
        <p:spPr>
          <a:xfrm>
            <a:off x="3022600" y="3293531"/>
            <a:ext cx="508000" cy="2184401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marL="0" algn="ctr"/>
            <a:endParaRPr lang="ko-KR" altLang="en-US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ADE65C6-84E1-4139-8F08-E9C6091E4423}"/>
              </a:ext>
            </a:extLst>
          </p:cNvPr>
          <p:cNvSpPr/>
          <p:nvPr/>
        </p:nvSpPr>
        <p:spPr>
          <a:xfrm>
            <a:off x="2602143" y="2027848"/>
            <a:ext cx="2181523" cy="442301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marL="0" algn="ctr"/>
            <a:endParaRPr lang="ko-KR" altLang="en-US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A71DDF-12F7-480D-A898-A595C6A9A117}"/>
              </a:ext>
            </a:extLst>
          </p:cNvPr>
          <p:cNvSpPr txBox="1"/>
          <p:nvPr/>
        </p:nvSpPr>
        <p:spPr>
          <a:xfrm>
            <a:off x="5171762" y="3293532"/>
            <a:ext cx="406537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전체 변수에 대하여 선형회귀식을 만들어 전체 모델의 유의성과 모델을 구성하고 있는 각 변수들의 </a:t>
            </a:r>
            <a:r>
              <a:rPr lang="en-US" altLang="ko-KR" sz="1400" dirty="0"/>
              <a:t>p-value</a:t>
            </a:r>
            <a:r>
              <a:rPr lang="ko-KR" altLang="en-US" sz="1400" dirty="0"/>
              <a:t>를 살펴 보았다</a:t>
            </a:r>
            <a:r>
              <a:rPr lang="en-US" altLang="ko-KR" sz="1400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6ECCB7-0D39-46A5-92E5-91800EFA4195}"/>
              </a:ext>
            </a:extLst>
          </p:cNvPr>
          <p:cNvSpPr txBox="1"/>
          <p:nvPr/>
        </p:nvSpPr>
        <p:spPr>
          <a:xfrm>
            <a:off x="5171761" y="5079505"/>
            <a:ext cx="406537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전체 모델의 설명력은 </a:t>
            </a:r>
            <a:r>
              <a:rPr lang="en-US" altLang="ko-KR" sz="1400" dirty="0"/>
              <a:t>0.735</a:t>
            </a:r>
            <a:r>
              <a:rPr lang="ko-KR" altLang="en-US" sz="1400" dirty="0"/>
              <a:t>가 나왔으며 몇 개 변수를 제외하고 전체적으로 </a:t>
            </a:r>
            <a:r>
              <a:rPr lang="en-US" altLang="ko-KR" sz="1400" dirty="0"/>
              <a:t>p-value</a:t>
            </a:r>
            <a:r>
              <a:rPr lang="ko-KR" altLang="en-US" sz="1400" dirty="0"/>
              <a:t>도 유의하게 결과가 나왔다</a:t>
            </a:r>
            <a:r>
              <a:rPr lang="en-US" altLang="ko-KR" sz="1400" dirty="0"/>
              <a:t>. </a:t>
            </a:r>
            <a:endParaRPr lang="ko-KR" altLang="en-US" sz="1400" dirty="0"/>
          </a:p>
        </p:txBody>
      </p:sp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258FFAAD-B0BC-4C9B-9747-D66931FF2588}"/>
              </a:ext>
            </a:extLst>
          </p:cNvPr>
          <p:cNvSpPr/>
          <p:nvPr/>
        </p:nvSpPr>
        <p:spPr>
          <a:xfrm>
            <a:off x="6986943" y="4322427"/>
            <a:ext cx="435006" cy="466847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algn="ctr"/>
            <a:endParaRPr lang="ko-KR" altLang="en-US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D53D4F-82A1-4043-8B09-A63B95D6CEE7}"/>
              </a:ext>
            </a:extLst>
          </p:cNvPr>
          <p:cNvSpPr txBox="1"/>
          <p:nvPr/>
        </p:nvSpPr>
        <p:spPr>
          <a:xfrm>
            <a:off x="532660" y="1411549"/>
            <a:ext cx="13671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OLS </a:t>
            </a:r>
            <a:r>
              <a:rPr lang="ko-KR" altLang="en-US" sz="1600" b="1" dirty="0"/>
              <a:t>결과표</a:t>
            </a:r>
          </a:p>
        </p:txBody>
      </p:sp>
    </p:spTree>
    <p:extLst>
      <p:ext uri="{BB962C8B-B14F-4D97-AF65-F5344CB8AC3E}">
        <p14:creationId xmlns:p14="http://schemas.microsoft.com/office/powerpoint/2010/main" val="13786701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/>
          <p:cNvSpPr txBox="1">
            <a:spLocks/>
          </p:cNvSpPr>
          <p:nvPr/>
        </p:nvSpPr>
        <p:spPr bwMode="auto">
          <a:xfrm>
            <a:off x="5988710" y="215682"/>
            <a:ext cx="3723615" cy="2746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600" i="1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종합 실습</a:t>
            </a:r>
            <a:endParaRPr kumimoji="1" lang="en-US" altLang="ko-KR" sz="1600" i="1" kern="0" dirty="0">
              <a:solidFill>
                <a:srgbClr val="002060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0668" y="130870"/>
            <a:ext cx="7778676" cy="400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defRPr/>
            </a:pPr>
            <a:r>
              <a:rPr kumimoji="1" lang="ko-KR" altLang="en-US" sz="2000" kern="0" spc="-10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모델링 </a:t>
            </a:r>
            <a:r>
              <a:rPr kumimoji="1" lang="en-US" altLang="ko-KR" sz="2000" kern="0" spc="-10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&amp; </a:t>
            </a:r>
            <a:r>
              <a:rPr kumimoji="1" lang="ko-KR" altLang="en-US" sz="2000" kern="0" spc="-10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요약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B5C63B-E58A-43F3-A1BA-AE040F3D8F92}"/>
              </a:ext>
            </a:extLst>
          </p:cNvPr>
          <p:cNvSpPr txBox="1"/>
          <p:nvPr/>
        </p:nvSpPr>
        <p:spPr>
          <a:xfrm>
            <a:off x="426129" y="772355"/>
            <a:ext cx="3613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/>
              <a:t>다중선형회귀 </a:t>
            </a:r>
            <a:r>
              <a:rPr lang="ko-KR" altLang="en-US" sz="2400" b="1" dirty="0"/>
              <a:t>모델 설계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7240870-F9BE-4DC7-B206-07E4CD527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703" y="2124592"/>
            <a:ext cx="1366591" cy="302707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4E84A11-B2CD-4691-A974-22D70AEBD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78" y="5906050"/>
            <a:ext cx="6923906" cy="4203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F6875E-13BB-4508-A922-33DA6FDFBDE4}"/>
              </a:ext>
            </a:extLst>
          </p:cNvPr>
          <p:cNvSpPr txBox="1"/>
          <p:nvPr/>
        </p:nvSpPr>
        <p:spPr>
          <a:xfrm>
            <a:off x="816744" y="1241384"/>
            <a:ext cx="67559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- </a:t>
            </a:r>
            <a:r>
              <a:rPr lang="ko-KR" altLang="en-US" sz="1600" dirty="0"/>
              <a:t>설명 변수 간의 다중 공선성을 파악하기 위하여 </a:t>
            </a:r>
            <a:r>
              <a:rPr lang="en-US" altLang="ko-KR" sz="1600" dirty="0"/>
              <a:t>VIF</a:t>
            </a:r>
            <a:r>
              <a:rPr lang="ko-KR" altLang="en-US" sz="1600" dirty="0"/>
              <a:t>값을 구하였고 후진제거법으로 </a:t>
            </a:r>
            <a:r>
              <a:rPr lang="en-US" altLang="ko-KR" sz="1600" dirty="0"/>
              <a:t>8</a:t>
            </a:r>
            <a:r>
              <a:rPr lang="ko-KR" altLang="en-US" sz="1600" dirty="0"/>
              <a:t>개의 변수 추출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7F87A7A-63A2-4907-B2B4-BF5089A6572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4856" b="28584"/>
          <a:stretch/>
        </p:blipFill>
        <p:spPr>
          <a:xfrm>
            <a:off x="2859633" y="4607189"/>
            <a:ext cx="5094759" cy="3357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BC1CBAF-C613-46E0-9E4D-BC9554FC97D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7503" b="48957"/>
          <a:stretch/>
        </p:blipFill>
        <p:spPr>
          <a:xfrm>
            <a:off x="2859633" y="4139102"/>
            <a:ext cx="5094759" cy="1811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9C4EEF9-017F-44D5-B7E6-95CFC4B0DFF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8911" b="37959"/>
          <a:stretch/>
        </p:blipFill>
        <p:spPr>
          <a:xfrm>
            <a:off x="2859633" y="3785477"/>
            <a:ext cx="5094759" cy="16022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DAF6907-0AC7-4399-BAF3-6A218C3711C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4351" b="59670"/>
          <a:stretch/>
        </p:blipFill>
        <p:spPr>
          <a:xfrm>
            <a:off x="2859633" y="2856034"/>
            <a:ext cx="5094759" cy="3060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C502CA26-AF45-4D16-944B-9A70578E0FD3}"/>
              </a:ext>
            </a:extLst>
          </p:cNvPr>
          <p:cNvSpPr/>
          <p:nvPr/>
        </p:nvSpPr>
        <p:spPr>
          <a:xfrm>
            <a:off x="5892800" y="3735124"/>
            <a:ext cx="514350" cy="1245922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marL="0" algn="ctr"/>
            <a:endParaRPr lang="ko-KR" altLang="en-US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0F5FD87-D4AE-4B34-84CC-03A3F632E5E8}"/>
              </a:ext>
            </a:extLst>
          </p:cNvPr>
          <p:cNvSpPr/>
          <p:nvPr/>
        </p:nvSpPr>
        <p:spPr>
          <a:xfrm>
            <a:off x="934702" y="3745953"/>
            <a:ext cx="1262397" cy="199748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marL="0" algn="ctr"/>
            <a:endParaRPr lang="ko-KR" altLang="en-US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48D0011-EBC8-4A95-A6A3-8AD5CACDA1D0}"/>
              </a:ext>
            </a:extLst>
          </p:cNvPr>
          <p:cNvSpPr/>
          <p:nvPr/>
        </p:nvSpPr>
        <p:spPr>
          <a:xfrm>
            <a:off x="934701" y="4139102"/>
            <a:ext cx="1262397" cy="199748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marL="0" algn="ctr"/>
            <a:endParaRPr lang="ko-KR" altLang="en-US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4131DBF-1CA1-4D6F-83EB-757A7DF38CBE}"/>
              </a:ext>
            </a:extLst>
          </p:cNvPr>
          <p:cNvSpPr/>
          <p:nvPr/>
        </p:nvSpPr>
        <p:spPr>
          <a:xfrm>
            <a:off x="934700" y="4532807"/>
            <a:ext cx="1262397" cy="385481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marL="0" algn="ctr"/>
            <a:endParaRPr lang="ko-KR" altLang="en-US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BF4F454-6476-4FA8-84E5-D7797B9A1423}"/>
              </a:ext>
            </a:extLst>
          </p:cNvPr>
          <p:cNvCxnSpPr>
            <a:cxnSpLocks/>
            <a:stCxn id="19" idx="3"/>
            <a:endCxn id="14" idx="1"/>
          </p:cNvCxnSpPr>
          <p:nvPr/>
        </p:nvCxnSpPr>
        <p:spPr>
          <a:xfrm>
            <a:off x="2197099" y="3845827"/>
            <a:ext cx="662534" cy="197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CEF928CB-6B6F-4530-9CD5-6C0A224B2078}"/>
              </a:ext>
            </a:extLst>
          </p:cNvPr>
          <p:cNvCxnSpPr>
            <a:cxnSpLocks/>
            <a:stCxn id="21" idx="3"/>
            <a:endCxn id="8" idx="1"/>
          </p:cNvCxnSpPr>
          <p:nvPr/>
        </p:nvCxnSpPr>
        <p:spPr>
          <a:xfrm flipV="1">
            <a:off x="2197098" y="4229701"/>
            <a:ext cx="662535" cy="92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CB804418-6CB7-42C9-BC70-405348388741}"/>
              </a:ext>
            </a:extLst>
          </p:cNvPr>
          <p:cNvCxnSpPr>
            <a:cxnSpLocks/>
            <a:stCxn id="23" idx="3"/>
            <a:endCxn id="7" idx="1"/>
          </p:cNvCxnSpPr>
          <p:nvPr/>
        </p:nvCxnSpPr>
        <p:spPr>
          <a:xfrm>
            <a:off x="2197097" y="4725548"/>
            <a:ext cx="662536" cy="4952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3F76B92-F67E-479C-8F57-12AB63AD4DBE}"/>
              </a:ext>
            </a:extLst>
          </p:cNvPr>
          <p:cNvSpPr txBox="1"/>
          <p:nvPr/>
        </p:nvSpPr>
        <p:spPr>
          <a:xfrm>
            <a:off x="908066" y="5481328"/>
            <a:ext cx="434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후진제거법에 의해 제거된 변수 목록</a:t>
            </a:r>
          </a:p>
        </p:txBody>
      </p:sp>
    </p:spTree>
    <p:extLst>
      <p:ext uri="{BB962C8B-B14F-4D97-AF65-F5344CB8AC3E}">
        <p14:creationId xmlns:p14="http://schemas.microsoft.com/office/powerpoint/2010/main" val="32142811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/>
          <p:cNvSpPr txBox="1">
            <a:spLocks/>
          </p:cNvSpPr>
          <p:nvPr/>
        </p:nvSpPr>
        <p:spPr bwMode="auto">
          <a:xfrm>
            <a:off x="5988710" y="215682"/>
            <a:ext cx="3723615" cy="2746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600" i="1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종합 실습</a:t>
            </a:r>
            <a:endParaRPr kumimoji="1" lang="en-US" altLang="ko-KR" sz="1600" i="1" kern="0" dirty="0">
              <a:solidFill>
                <a:srgbClr val="002060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0668" y="130870"/>
            <a:ext cx="7778676" cy="400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defRPr/>
            </a:pPr>
            <a:r>
              <a:rPr kumimoji="1" lang="ko-KR" altLang="en-US" sz="2000" kern="0" spc="-10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모델링 </a:t>
            </a:r>
            <a:r>
              <a:rPr kumimoji="1" lang="en-US" altLang="ko-KR" sz="2000" kern="0" spc="-10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&amp; </a:t>
            </a:r>
            <a:r>
              <a:rPr kumimoji="1" lang="ko-KR" altLang="en-US" sz="2000" kern="0" spc="-10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요약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B5C63B-E58A-43F3-A1BA-AE040F3D8F92}"/>
              </a:ext>
            </a:extLst>
          </p:cNvPr>
          <p:cNvSpPr txBox="1"/>
          <p:nvPr/>
        </p:nvSpPr>
        <p:spPr>
          <a:xfrm>
            <a:off x="426129" y="772355"/>
            <a:ext cx="3613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다중선형회귀 모델 설계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C9C138A-2625-4FAA-9D1C-267DD4831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712" y="1824850"/>
            <a:ext cx="6974580" cy="78431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BC88F36-0EF3-4565-9B8B-4C9F4D0B7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712" y="2671313"/>
            <a:ext cx="4284296" cy="370730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8B0049-97DF-476F-8BAB-F923519EF21D}"/>
              </a:ext>
            </a:extLst>
          </p:cNvPr>
          <p:cNvSpPr txBox="1"/>
          <p:nvPr/>
        </p:nvSpPr>
        <p:spPr>
          <a:xfrm>
            <a:off x="772356" y="1278409"/>
            <a:ext cx="58199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후진제거법에 의해 선정된 </a:t>
            </a:r>
            <a:r>
              <a:rPr lang="en-US" altLang="ko-KR" sz="1600" dirty="0"/>
              <a:t>8</a:t>
            </a:r>
            <a:r>
              <a:rPr lang="ko-KR" altLang="en-US" sz="1600" dirty="0"/>
              <a:t>개의 변수에 대해 선형식 </a:t>
            </a:r>
            <a:r>
              <a:rPr lang="ko-KR" altLang="en-US" sz="1600" dirty="0" err="1"/>
              <a:t>재도출</a:t>
            </a:r>
            <a:endParaRPr lang="ko-KR" altLang="en-US" sz="16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15AD449-258E-4FD0-8F42-A8183565B9BB}"/>
              </a:ext>
            </a:extLst>
          </p:cNvPr>
          <p:cNvSpPr/>
          <p:nvPr/>
        </p:nvSpPr>
        <p:spPr>
          <a:xfrm>
            <a:off x="3609335" y="4128033"/>
            <a:ext cx="483273" cy="1527044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marL="0" algn="ctr"/>
            <a:endParaRPr lang="ko-KR" altLang="en-US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1021BC-CC60-47CF-877D-95ADC14388C7}"/>
              </a:ext>
            </a:extLst>
          </p:cNvPr>
          <p:cNvSpPr txBox="1"/>
          <p:nvPr/>
        </p:nvSpPr>
        <p:spPr>
          <a:xfrm>
            <a:off x="5789561" y="5239578"/>
            <a:ext cx="24754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회귀식</a:t>
            </a:r>
            <a:r>
              <a:rPr lang="ko-KR" altLang="en-US" sz="1200" dirty="0"/>
              <a:t> 도출 결과 </a:t>
            </a:r>
            <a:r>
              <a:rPr lang="en-US" altLang="ko-KR" sz="1200" dirty="0"/>
              <a:t>TAX</a:t>
            </a:r>
            <a:r>
              <a:rPr lang="ko-KR" altLang="en-US" sz="1200" dirty="0"/>
              <a:t>를 제외한 변수들의 계수가 모델 형성에 유의미한 영향을 미치는 것을 확인할 수 있었으며 </a:t>
            </a:r>
            <a:r>
              <a:rPr lang="en-US" altLang="ko-KR" sz="1200" dirty="0"/>
              <a:t>VIF </a:t>
            </a:r>
            <a:r>
              <a:rPr lang="ko-KR" altLang="en-US" sz="1200" dirty="0"/>
              <a:t>값 출력결과 변수간 다중 공선성도 완화된 것을 알 수 있다</a:t>
            </a:r>
            <a:r>
              <a:rPr lang="en-US" altLang="ko-KR" sz="1200" dirty="0"/>
              <a:t>.</a:t>
            </a:r>
            <a:r>
              <a:rPr lang="ko-KR" altLang="en-US" sz="1200" dirty="0"/>
              <a:t>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F1178BF-5A01-4A6C-A6CA-5B52385AD8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275" y="2803146"/>
            <a:ext cx="1382017" cy="216384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814015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/>
          <p:cNvSpPr txBox="1">
            <a:spLocks/>
          </p:cNvSpPr>
          <p:nvPr/>
        </p:nvSpPr>
        <p:spPr bwMode="auto">
          <a:xfrm>
            <a:off x="5988710" y="215682"/>
            <a:ext cx="3723615" cy="2746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600" i="1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종합 실습</a:t>
            </a:r>
            <a:endParaRPr kumimoji="1" lang="en-US" altLang="ko-KR" sz="1600" i="1" kern="0" dirty="0">
              <a:solidFill>
                <a:srgbClr val="002060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0668" y="130870"/>
            <a:ext cx="7778676" cy="400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defRPr/>
            </a:pPr>
            <a:r>
              <a:rPr kumimoji="1" lang="ko-KR" altLang="en-US" sz="2000" kern="0" spc="-10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모델링 </a:t>
            </a:r>
            <a:r>
              <a:rPr kumimoji="1" lang="en-US" altLang="ko-KR" sz="2000" kern="0" spc="-10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&amp; </a:t>
            </a:r>
            <a:r>
              <a:rPr kumimoji="1" lang="ko-KR" altLang="en-US" sz="2000" kern="0" spc="-10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요약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B5C63B-E58A-43F3-A1BA-AE040F3D8F92}"/>
              </a:ext>
            </a:extLst>
          </p:cNvPr>
          <p:cNvSpPr txBox="1"/>
          <p:nvPr/>
        </p:nvSpPr>
        <p:spPr>
          <a:xfrm>
            <a:off x="426129" y="772355"/>
            <a:ext cx="3613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다중선형회귀 모델 설계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50539A-625C-4603-92B0-BB9671732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249" y="2119031"/>
            <a:ext cx="4803264" cy="39666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DCE609-E183-435D-847E-732CBACBA798}"/>
              </a:ext>
            </a:extLst>
          </p:cNvPr>
          <p:cNvSpPr txBox="1"/>
          <p:nvPr/>
        </p:nvSpPr>
        <p:spPr>
          <a:xfrm>
            <a:off x="798989" y="1349409"/>
            <a:ext cx="66316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최종적으로 </a:t>
            </a:r>
            <a:r>
              <a:rPr lang="en-US" altLang="ko-KR" sz="1600" dirty="0"/>
              <a:t>TAX </a:t>
            </a:r>
            <a:r>
              <a:rPr lang="ko-KR" altLang="en-US" sz="1600" dirty="0"/>
              <a:t>변수도 제외하여 생성한 최종 다중회귀 모델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0C2D9F6-6217-409A-9B39-0CF9E5FCFBC4}"/>
              </a:ext>
            </a:extLst>
          </p:cNvPr>
          <p:cNvSpPr/>
          <p:nvPr/>
        </p:nvSpPr>
        <p:spPr>
          <a:xfrm>
            <a:off x="3671478" y="3755169"/>
            <a:ext cx="483273" cy="1527044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marL="0" algn="ctr"/>
            <a:endParaRPr lang="ko-KR" altLang="en-US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5DA6B7-FFF5-4311-B85A-E229F053B841}"/>
              </a:ext>
            </a:extLst>
          </p:cNvPr>
          <p:cNvSpPr txBox="1"/>
          <p:nvPr/>
        </p:nvSpPr>
        <p:spPr>
          <a:xfrm>
            <a:off x="6162831" y="3086675"/>
            <a:ext cx="29449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모델의 설명력</a:t>
            </a:r>
            <a:r>
              <a:rPr lang="en-US" altLang="ko-KR" b="1" dirty="0"/>
              <a:t>(adj R</a:t>
            </a:r>
            <a:r>
              <a:rPr lang="en-US" altLang="ko-KR" b="1" baseline="30000" dirty="0"/>
              <a:t>2</a:t>
            </a:r>
            <a:r>
              <a:rPr lang="en-US" altLang="ko-KR" b="1" dirty="0"/>
              <a:t>)</a:t>
            </a:r>
            <a:r>
              <a:rPr lang="ko-KR" altLang="en-US" b="1" dirty="0"/>
              <a:t>값은 최초 모델</a:t>
            </a:r>
            <a:r>
              <a:rPr lang="en-US" altLang="ko-KR" b="1" dirty="0"/>
              <a:t>(0.754)</a:t>
            </a:r>
            <a:r>
              <a:rPr lang="ko-KR" altLang="en-US" b="1" dirty="0"/>
              <a:t>보다 </a:t>
            </a:r>
            <a:r>
              <a:rPr lang="en-US" altLang="ko-KR" b="1" dirty="0"/>
              <a:t>0.35</a:t>
            </a:r>
            <a:r>
              <a:rPr lang="ko-KR" altLang="en-US" b="1" dirty="0"/>
              <a:t> 감소하였지만</a:t>
            </a:r>
            <a:r>
              <a:rPr lang="en-US" altLang="ko-KR" b="1" dirty="0"/>
              <a:t>,</a:t>
            </a:r>
          </a:p>
          <a:p>
            <a:r>
              <a:rPr lang="ko-KR" altLang="en-US" b="1" dirty="0"/>
              <a:t>변수들의 </a:t>
            </a:r>
            <a:r>
              <a:rPr lang="en-US" altLang="ko-KR" b="1" dirty="0"/>
              <a:t>p-value </a:t>
            </a:r>
            <a:r>
              <a:rPr lang="ko-KR" altLang="en-US" b="1" dirty="0"/>
              <a:t>값을 살펴 보았을 때 전부 </a:t>
            </a:r>
            <a:r>
              <a:rPr lang="en-US" altLang="ko-KR" b="1" dirty="0"/>
              <a:t>0.05</a:t>
            </a:r>
            <a:r>
              <a:rPr lang="ko-KR" altLang="en-US" b="1" dirty="0"/>
              <a:t>보다 작기 때문에 유의한 변수임을 알 수 있다</a:t>
            </a:r>
            <a:r>
              <a:rPr lang="en-US" altLang="ko-KR" b="1" dirty="0"/>
              <a:t>.</a:t>
            </a:r>
            <a:r>
              <a:rPr lang="ko-KR" altLang="en-US" b="1" dirty="0"/>
              <a:t> </a:t>
            </a: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D0FBA583-B178-4E03-B246-D132BDA66491}"/>
              </a:ext>
            </a:extLst>
          </p:cNvPr>
          <p:cNvSpPr/>
          <p:nvPr/>
        </p:nvSpPr>
        <p:spPr>
          <a:xfrm>
            <a:off x="5741988" y="4004682"/>
            <a:ext cx="280368" cy="19530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algn="ctr"/>
            <a:endParaRPr lang="ko-KR" altLang="en-US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93448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F3A30B99-1AFF-42BA-AF3D-C41E868E8FB4}"/>
              </a:ext>
            </a:extLst>
          </p:cNvPr>
          <p:cNvSpPr/>
          <p:nvPr/>
        </p:nvSpPr>
        <p:spPr>
          <a:xfrm>
            <a:off x="4776186" y="2596445"/>
            <a:ext cx="3854313" cy="265025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algn="ctr"/>
            <a:endParaRPr lang="ko-KR" altLang="en-US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제목 1"/>
          <p:cNvSpPr txBox="1">
            <a:spLocks/>
          </p:cNvSpPr>
          <p:nvPr/>
        </p:nvSpPr>
        <p:spPr bwMode="auto">
          <a:xfrm>
            <a:off x="5988710" y="215682"/>
            <a:ext cx="3723615" cy="2746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600" i="1" kern="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종합 실습</a:t>
            </a:r>
            <a:endParaRPr kumimoji="1" lang="en-US" altLang="ko-KR" sz="1600" i="1" kern="0" dirty="0">
              <a:solidFill>
                <a:srgbClr val="002060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0668" y="130870"/>
            <a:ext cx="7778676" cy="400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defRPr/>
            </a:pPr>
            <a:r>
              <a:rPr kumimoji="1" lang="ko-KR" altLang="en-US" sz="2000" kern="0" spc="-10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모델링 </a:t>
            </a:r>
            <a:r>
              <a:rPr kumimoji="1" lang="en-US" altLang="ko-KR" sz="2000" kern="0" spc="-10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&amp; </a:t>
            </a:r>
            <a:r>
              <a:rPr kumimoji="1" lang="ko-KR" altLang="en-US" sz="2000" kern="0" spc="-100" dirty="0">
                <a:solidFill>
                  <a:srgbClr val="002060"/>
                </a:solidFill>
                <a:latin typeface="HY견고딕" pitchFamily="18" charset="-127"/>
                <a:ea typeface="HY견고딕" pitchFamily="18" charset="-127"/>
              </a:rPr>
              <a:t>요약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B5C63B-E58A-43F3-A1BA-AE040F3D8F92}"/>
              </a:ext>
            </a:extLst>
          </p:cNvPr>
          <p:cNvSpPr txBox="1"/>
          <p:nvPr/>
        </p:nvSpPr>
        <p:spPr>
          <a:xfrm>
            <a:off x="426129" y="772355"/>
            <a:ext cx="3613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단순선형회귀 모델 설계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CD9B91-E9CD-428B-AD6D-372DB93EFFF9}"/>
              </a:ext>
            </a:extLst>
          </p:cNvPr>
          <p:cNvSpPr txBox="1"/>
          <p:nvPr/>
        </p:nvSpPr>
        <p:spPr>
          <a:xfrm>
            <a:off x="728133" y="1234020"/>
            <a:ext cx="37316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변수 </a:t>
            </a:r>
            <a:r>
              <a:rPr lang="en-US" altLang="ko-KR" sz="1600" dirty="0" err="1"/>
              <a:t>coef</a:t>
            </a:r>
            <a:r>
              <a:rPr lang="ko-KR" altLang="en-US" sz="1600" dirty="0"/>
              <a:t>를 통한 중요도 비교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73B3C1D9-5218-4FFE-A135-37CE4EE06A4F}"/>
              </a:ext>
            </a:extLst>
          </p:cNvPr>
          <p:cNvGrpSpPr/>
          <p:nvPr/>
        </p:nvGrpSpPr>
        <p:grpSpPr>
          <a:xfrm>
            <a:off x="728133" y="2735358"/>
            <a:ext cx="7813693" cy="2944514"/>
            <a:chOff x="728133" y="2107383"/>
            <a:chExt cx="7813693" cy="2944514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CE001CD6-5E97-43B4-935D-F25CB8CA22AF}"/>
                </a:ext>
              </a:extLst>
            </p:cNvPr>
            <p:cNvGrpSpPr/>
            <p:nvPr/>
          </p:nvGrpSpPr>
          <p:grpSpPr>
            <a:xfrm>
              <a:off x="728133" y="2107383"/>
              <a:ext cx="7813693" cy="2409707"/>
              <a:chOff x="707640" y="2806220"/>
              <a:chExt cx="6714954" cy="1866996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E030BF9D-4F34-4C11-92E8-2BC03BEBC2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07640" y="2806220"/>
                <a:ext cx="3206915" cy="1866996"/>
              </a:xfrm>
              <a:prstGeom prst="rect">
                <a:avLst/>
              </a:prstGeom>
            </p:spPr>
          </p:pic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6CDCF866-9645-45F9-92A0-8E138CB3BB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91883" y="2827812"/>
                <a:ext cx="3130711" cy="1835244"/>
              </a:xfrm>
              <a:prstGeom prst="rect">
                <a:avLst/>
              </a:prstGeom>
            </p:spPr>
          </p:pic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A0F0782A-E043-44F9-B8EA-9179B60954EC}"/>
                  </a:ext>
                </a:extLst>
              </p:cNvPr>
              <p:cNvSpPr/>
              <p:nvPr/>
            </p:nvSpPr>
            <p:spPr>
              <a:xfrm>
                <a:off x="4384011" y="2860442"/>
                <a:ext cx="508000" cy="42675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none" rtlCol="0" anchor="ctr">
                <a:noAutofit/>
              </a:bodyPr>
              <a:lstStyle/>
              <a:p>
                <a:pPr marL="0" algn="r">
                  <a:lnSpc>
                    <a:spcPct val="150000"/>
                  </a:lnSpc>
                </a:pPr>
                <a:r>
                  <a:rPr lang="en-US" altLang="ko-KR" sz="1100" b="1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LSTAT</a:t>
                </a:r>
              </a:p>
              <a:p>
                <a:pPr marL="0" algn="r">
                  <a:lnSpc>
                    <a:spcPct val="150000"/>
                  </a:lnSpc>
                </a:pPr>
                <a:r>
                  <a:rPr lang="en-US" altLang="ko-KR" sz="1100" b="1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B</a:t>
                </a:r>
                <a:endParaRPr lang="ko-KR" altLang="en-US" sz="1100" b="1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BD4413E-4B98-4699-90F9-272213FB71A1}"/>
                </a:ext>
              </a:extLst>
            </p:cNvPr>
            <p:cNvSpPr txBox="1"/>
            <p:nvPr/>
          </p:nvSpPr>
          <p:spPr>
            <a:xfrm>
              <a:off x="1968081" y="4682565"/>
              <a:ext cx="12517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/>
                <a:t>Scale </a:t>
              </a:r>
              <a:r>
                <a:rPr lang="ko-KR" altLang="en-US" b="1" dirty="0"/>
                <a:t>전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B795A1D-A087-4DE1-8102-2BCD4553B148}"/>
                </a:ext>
              </a:extLst>
            </p:cNvPr>
            <p:cNvSpPr txBox="1"/>
            <p:nvPr/>
          </p:nvSpPr>
          <p:spPr>
            <a:xfrm>
              <a:off x="6094462" y="4682565"/>
              <a:ext cx="12517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/>
                <a:t>Scale </a:t>
              </a:r>
              <a:r>
                <a:rPr lang="ko-KR" altLang="en-US" b="1" dirty="0"/>
                <a:t>후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3491860-16BB-4298-9AEC-1A57BC56D16F}"/>
              </a:ext>
            </a:extLst>
          </p:cNvPr>
          <p:cNvSpPr txBox="1"/>
          <p:nvPr/>
        </p:nvSpPr>
        <p:spPr>
          <a:xfrm>
            <a:off x="728133" y="1816944"/>
            <a:ext cx="7395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평균</a:t>
            </a:r>
            <a:r>
              <a:rPr lang="en-US" altLang="ko-KR" dirty="0"/>
              <a:t>, </a:t>
            </a:r>
            <a:r>
              <a:rPr lang="ko-KR" altLang="en-US" dirty="0"/>
              <a:t>분산이 다른 변수들의 영향도를 비교했기 때문에 </a:t>
            </a:r>
            <a:r>
              <a:rPr lang="en-US" altLang="ko-KR" dirty="0" err="1"/>
              <a:t>StandardScale</a:t>
            </a:r>
            <a:r>
              <a:rPr lang="en-US" altLang="ko-KR" dirty="0"/>
              <a:t> </a:t>
            </a:r>
            <a:r>
              <a:rPr lang="ko-KR" altLang="en-US" dirty="0"/>
              <a:t>처리를 통해 변수들의 평균</a:t>
            </a:r>
            <a:r>
              <a:rPr lang="en-US" altLang="ko-KR" dirty="0"/>
              <a:t>, </a:t>
            </a:r>
            <a:r>
              <a:rPr lang="ko-KR" altLang="en-US" dirty="0"/>
              <a:t>분산을 맞춰 비교하였다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2D1CE513-102A-4CAC-93EE-603A7EF906D7}"/>
              </a:ext>
            </a:extLst>
          </p:cNvPr>
          <p:cNvSpPr/>
          <p:nvPr/>
        </p:nvSpPr>
        <p:spPr>
          <a:xfrm>
            <a:off x="1038687" y="6001305"/>
            <a:ext cx="319596" cy="31959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algn="ctr"/>
            <a:endParaRPr lang="ko-KR" altLang="en-US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CB1B46-A701-48B7-B05C-ABF8F5FFC509}"/>
              </a:ext>
            </a:extLst>
          </p:cNvPr>
          <p:cNvSpPr txBox="1"/>
          <p:nvPr/>
        </p:nvSpPr>
        <p:spPr>
          <a:xfrm>
            <a:off x="1491448" y="5871670"/>
            <a:ext cx="7483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LSTAT</a:t>
            </a:r>
            <a:r>
              <a:rPr lang="ko-KR" altLang="en-US" dirty="0"/>
              <a:t>와 </a:t>
            </a:r>
            <a:r>
              <a:rPr lang="en-US" altLang="ko-KR" dirty="0"/>
              <a:t>RM</a:t>
            </a:r>
            <a:r>
              <a:rPr lang="ko-KR" altLang="en-US" dirty="0"/>
              <a:t>이 가장 높은 상관성을 갖으며 각각의 변수와 목적변수인 주택가격 간의 상관도는 오른쪽 그래프와 같다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63254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/>
          <p:cNvSpPr txBox="1">
            <a:spLocks/>
          </p:cNvSpPr>
          <p:nvPr/>
        </p:nvSpPr>
        <p:spPr bwMode="auto">
          <a:xfrm>
            <a:off x="5988710" y="215682"/>
            <a:ext cx="3723615" cy="2746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</a:rPr>
              <a:t>종합 실습</a:t>
            </a:r>
            <a:endParaRPr kumimoji="1" lang="en-US" altLang="ko-KR" sz="1600" b="0" i="1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0668" y="130870"/>
            <a:ext cx="7778676" cy="400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000" b="0" i="0" u="none" strike="noStrike" kern="0" cap="none" spc="-1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</a:rPr>
              <a:t>모델링 </a:t>
            </a:r>
            <a:r>
              <a:rPr kumimoji="1" lang="en-US" altLang="ko-KR" sz="2000" b="0" i="0" u="none" strike="noStrike" kern="0" cap="none" spc="-1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</a:rPr>
              <a:t>&amp; </a:t>
            </a:r>
            <a:r>
              <a:rPr kumimoji="1" lang="ko-KR" altLang="en-US" sz="2000" b="0" i="0" u="none" strike="noStrike" kern="0" cap="none" spc="-1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</a:rPr>
              <a:t>요약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B5C63B-E58A-43F3-A1BA-AE040F3D8F92}"/>
              </a:ext>
            </a:extLst>
          </p:cNvPr>
          <p:cNvSpPr txBox="1"/>
          <p:nvPr/>
        </p:nvSpPr>
        <p:spPr>
          <a:xfrm>
            <a:off x="426129" y="772355"/>
            <a:ext cx="82207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  <a:t>단순선형회귀 모델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  <a:t>결론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  <a:t>: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  <a:t>주택가격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  <a:t>(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  <a:t>목적변수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  <a:t>)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  <a:t>에 영향을 미치는 요인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AAED8A9-2826-423D-AC08-6246367A3D44}"/>
              </a:ext>
            </a:extLst>
          </p:cNvPr>
          <p:cNvSpPr/>
          <p:nvPr/>
        </p:nvSpPr>
        <p:spPr>
          <a:xfrm>
            <a:off x="916255" y="1787481"/>
            <a:ext cx="7778675" cy="14187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B (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흑인 인구 비율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) –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흑인 인구의 비율이 높을수록 주택가격이 높다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RM (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가구당 평균 방 수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) - 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주택의 평균 방 수가 많을수록 주택가격이 높다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3DE6F07-110C-4971-81E7-60840F04D307}"/>
              </a:ext>
            </a:extLst>
          </p:cNvPr>
          <p:cNvSpPr/>
          <p:nvPr/>
        </p:nvSpPr>
        <p:spPr>
          <a:xfrm>
            <a:off x="916254" y="4067884"/>
            <a:ext cx="7778675" cy="195287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LSTAT (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저소득층 비율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) –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저소득층 비율이 낮은 지역일수록 주택가격이 높다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DIS (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중심지 접근 거리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) –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중심지 최대한 가까이 있는 주택일수록 가격이 높다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PTRATIO (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학생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교사 비율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) –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학생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교사 비율이 낮을수록 주택가격이 높다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285750" marR="0" lvl="0" indent="-2857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NOX (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산화질소 농도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) –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산화질소 농도가 낮을수록 주택가격이 높다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AE7136-FEA7-44C1-B24E-BC1B050F6A9F}"/>
              </a:ext>
            </a:extLst>
          </p:cNvPr>
          <p:cNvSpPr txBox="1"/>
          <p:nvPr/>
        </p:nvSpPr>
        <p:spPr>
          <a:xfrm>
            <a:off x="994296" y="1443976"/>
            <a:ext cx="15358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Arial"/>
              </a:rPr>
              <a:t>양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  <a:t>의 상관관계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E4DE65-7C35-456E-8B6D-81EE414C7A37}"/>
              </a:ext>
            </a:extLst>
          </p:cNvPr>
          <p:cNvSpPr txBox="1"/>
          <p:nvPr/>
        </p:nvSpPr>
        <p:spPr>
          <a:xfrm>
            <a:off x="994295" y="3692118"/>
            <a:ext cx="15358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</a:rPr>
              <a:t>음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</a:rPr>
              <a:t>의 상관관계</a:t>
            </a:r>
          </a:p>
        </p:txBody>
      </p:sp>
    </p:spTree>
    <p:extLst>
      <p:ext uri="{BB962C8B-B14F-4D97-AF65-F5344CB8AC3E}">
        <p14:creationId xmlns:p14="http://schemas.microsoft.com/office/powerpoint/2010/main" val="3043369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이(가) 표시된 사진&#10;&#10;자동 생성된 설명">
            <a:extLst>
              <a:ext uri="{FF2B5EF4-FFF2-40B4-BE49-F238E27FC236}">
                <a16:creationId xmlns:a16="http://schemas.microsoft.com/office/drawing/2014/main" id="{4D187E14-0684-48C5-88BD-49FDEF912E6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558"/>
          <a:stretch/>
        </p:blipFill>
        <p:spPr>
          <a:xfrm>
            <a:off x="391759" y="1848248"/>
            <a:ext cx="4213386" cy="1857523"/>
          </a:xfrm>
          <a:prstGeom prst="rect">
            <a:avLst/>
          </a:prstGeom>
        </p:spPr>
      </p:pic>
      <p:sp>
        <p:nvSpPr>
          <p:cNvPr id="117" name="CustomShape 1"/>
          <p:cNvSpPr/>
          <p:nvPr/>
        </p:nvSpPr>
        <p:spPr>
          <a:xfrm>
            <a:off x="5988600" y="215640"/>
            <a:ext cx="3723120" cy="27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en-US" sz="1600" b="0" i="1" strike="noStrike" spc="-1">
                <a:solidFill>
                  <a:srgbClr val="002060"/>
                </a:solidFill>
                <a:latin typeface="HY견고딕"/>
                <a:ea typeface="HY견고딕"/>
              </a:rPr>
              <a:t>종합 실습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18" name="CustomShape 2"/>
          <p:cNvSpPr/>
          <p:nvPr/>
        </p:nvSpPr>
        <p:spPr>
          <a:xfrm>
            <a:off x="270720" y="132840"/>
            <a:ext cx="7778160" cy="395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2000" b="0" strike="noStrike" spc="-97" dirty="0" err="1">
                <a:solidFill>
                  <a:srgbClr val="002060"/>
                </a:solidFill>
                <a:latin typeface="HY견고딕"/>
                <a:ea typeface="HY견고딕"/>
              </a:rPr>
              <a:t>모델링</a:t>
            </a:r>
            <a:r>
              <a:rPr lang="en-US" sz="2000" b="0" strike="noStrike" spc="-97" dirty="0">
                <a:solidFill>
                  <a:srgbClr val="002060"/>
                </a:solidFill>
                <a:latin typeface="HY견고딕"/>
                <a:ea typeface="HY견고딕"/>
              </a:rPr>
              <a:t> &amp; </a:t>
            </a:r>
            <a:r>
              <a:rPr lang="en-US" sz="2000" b="0" strike="noStrike" spc="-97" dirty="0" err="1">
                <a:solidFill>
                  <a:srgbClr val="002060"/>
                </a:solidFill>
                <a:latin typeface="HY견고딕"/>
                <a:ea typeface="HY견고딕"/>
              </a:rPr>
              <a:t>요약</a:t>
            </a:r>
            <a:endParaRPr lang="en-US" sz="2000" b="0" strike="noStrike" spc="-1" dirty="0">
              <a:latin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BD4036-928C-4274-A30B-EEC4E4C34DD0}"/>
              </a:ext>
            </a:extLst>
          </p:cNvPr>
          <p:cNvSpPr txBox="1"/>
          <p:nvPr/>
        </p:nvSpPr>
        <p:spPr>
          <a:xfrm>
            <a:off x="5250732" y="4783672"/>
            <a:ext cx="3854066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+mj-lt"/>
              </a:rPr>
              <a:t>다중 회귀 분석 이외에도 </a:t>
            </a:r>
            <a:r>
              <a:rPr lang="en-US" altLang="ko-KR" sz="1400" b="1" dirty="0">
                <a:latin typeface="+mj-lt"/>
              </a:rPr>
              <a:t> </a:t>
            </a:r>
            <a:r>
              <a:rPr lang="ko-KR" altLang="en-US" sz="1400" b="1" dirty="0">
                <a:latin typeface="+mj-lt"/>
              </a:rPr>
              <a:t>의사결정나무</a:t>
            </a:r>
            <a:r>
              <a:rPr lang="en-US" altLang="ko-KR" sz="1400" b="1" dirty="0">
                <a:latin typeface="+mj-lt"/>
              </a:rPr>
              <a:t>, </a:t>
            </a:r>
            <a:r>
              <a:rPr lang="ko-KR" altLang="en-US" sz="1400" b="1" dirty="0" err="1">
                <a:latin typeface="+mj-lt"/>
              </a:rPr>
              <a:t>랜덤포레스트</a:t>
            </a:r>
            <a:r>
              <a:rPr lang="en-US" altLang="ko-KR" sz="1400" b="1" dirty="0">
                <a:latin typeface="+mj-lt"/>
              </a:rPr>
              <a:t>, </a:t>
            </a:r>
            <a:r>
              <a:rPr lang="ko-KR" altLang="en-US" sz="1400" b="1" dirty="0" err="1">
                <a:latin typeface="+mj-lt"/>
              </a:rPr>
              <a:t>그레디언트</a:t>
            </a:r>
            <a:r>
              <a:rPr lang="ko-KR" altLang="en-US" sz="1400" b="1" dirty="0">
                <a:latin typeface="+mj-lt"/>
              </a:rPr>
              <a:t> </a:t>
            </a:r>
            <a:r>
              <a:rPr lang="ko-KR" altLang="en-US" sz="1400" b="1" dirty="0" err="1">
                <a:latin typeface="+mj-lt"/>
              </a:rPr>
              <a:t>부스팅</a:t>
            </a:r>
            <a:r>
              <a:rPr lang="ko-KR" altLang="en-US" sz="1400" b="1" dirty="0">
                <a:latin typeface="+mj-lt"/>
              </a:rPr>
              <a:t> 모델을 생성하였으며 그 중 </a:t>
            </a:r>
            <a:r>
              <a:rPr lang="ko-KR" altLang="en-US" sz="1400" b="1" dirty="0" err="1">
                <a:latin typeface="+mj-lt"/>
              </a:rPr>
              <a:t>랜덤포레스트의</a:t>
            </a:r>
            <a:r>
              <a:rPr lang="ko-KR" altLang="en-US" sz="1400" b="1" dirty="0">
                <a:latin typeface="+mj-lt"/>
              </a:rPr>
              <a:t> </a:t>
            </a:r>
            <a:r>
              <a:rPr lang="en-US" altLang="ko-KR" sz="1400" b="1" dirty="0">
                <a:latin typeface="+mj-lt"/>
              </a:rPr>
              <a:t>test </a:t>
            </a:r>
            <a:r>
              <a:rPr lang="ko-KR" altLang="en-US" sz="1400" b="1" dirty="0">
                <a:latin typeface="+mj-lt"/>
              </a:rPr>
              <a:t>정확도가 가장 높게 나왔다</a:t>
            </a:r>
            <a:endParaRPr lang="en-US" altLang="ko-KR" sz="1400" b="1" dirty="0">
              <a:latin typeface="+mj-lt"/>
            </a:endParaRPr>
          </a:p>
        </p:txBody>
      </p:sp>
      <p:pic>
        <p:nvPicPr>
          <p:cNvPr id="6" name="그림 5" descr="스크린샷이(가) 표시된 사진&#10;&#10;자동 생성된 설명">
            <a:extLst>
              <a:ext uri="{FF2B5EF4-FFF2-40B4-BE49-F238E27FC236}">
                <a16:creationId xmlns:a16="http://schemas.microsoft.com/office/drawing/2014/main" id="{1AEBC4C2-9314-4432-A6AC-0730909B67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759" y="4081745"/>
            <a:ext cx="4092487" cy="2058953"/>
          </a:xfrm>
          <a:prstGeom prst="rect">
            <a:avLst/>
          </a:prstGeom>
        </p:spPr>
      </p:pic>
      <p:pic>
        <p:nvPicPr>
          <p:cNvPr id="2" name="그림 1" descr="스크린샷이(가) 표시된 사진&#10;&#10;자동 생성된 설명">
            <a:extLst>
              <a:ext uri="{FF2B5EF4-FFF2-40B4-BE49-F238E27FC236}">
                <a16:creationId xmlns:a16="http://schemas.microsoft.com/office/drawing/2014/main" id="{F3736D8C-36EC-4D24-8AA3-506B3FC8F3F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309"/>
          <a:stretch/>
        </p:blipFill>
        <p:spPr>
          <a:xfrm>
            <a:off x="5013449" y="1729344"/>
            <a:ext cx="4213386" cy="19796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237049-902E-4F90-8ED9-EEB56A961BEA}"/>
              </a:ext>
            </a:extLst>
          </p:cNvPr>
          <p:cNvSpPr txBox="1"/>
          <p:nvPr/>
        </p:nvSpPr>
        <p:spPr>
          <a:xfrm>
            <a:off x="521379" y="834999"/>
            <a:ext cx="6598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다양한 모델링 기법을 활용한 회귀 모형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0ADCAB83-0B8E-44E6-A486-31D7D63C4C9F}"/>
              </a:ext>
            </a:extLst>
          </p:cNvPr>
          <p:cNvSpPr/>
          <p:nvPr/>
        </p:nvSpPr>
        <p:spPr>
          <a:xfrm>
            <a:off x="1148648" y="5213023"/>
            <a:ext cx="7901083" cy="124476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BD4036-928C-4274-A30B-EEC4E4C34DD0}"/>
              </a:ext>
            </a:extLst>
          </p:cNvPr>
          <p:cNvSpPr txBox="1"/>
          <p:nvPr/>
        </p:nvSpPr>
        <p:spPr>
          <a:xfrm>
            <a:off x="1148649" y="4303381"/>
            <a:ext cx="7703120" cy="2170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463" dirty="0">
              <a:latin typeface="+mj-lt"/>
            </a:endParaRPr>
          </a:p>
          <a:p>
            <a:endParaRPr lang="en-US" altLang="ko-KR" sz="1463" dirty="0">
              <a:latin typeface="+mj-lt"/>
            </a:endParaRPr>
          </a:p>
          <a:p>
            <a:r>
              <a:rPr lang="ko-KR" altLang="en-US" b="1" dirty="0">
                <a:latin typeface="+mj-lt"/>
              </a:rPr>
              <a:t>모델 비교 결과</a:t>
            </a:r>
            <a:endParaRPr lang="en-US" altLang="ko-KR" b="1" dirty="0">
              <a:latin typeface="+mj-lt"/>
            </a:endParaRPr>
          </a:p>
          <a:p>
            <a:endParaRPr lang="en-US" altLang="ko-KR" sz="1463" b="1" dirty="0">
              <a:latin typeface="+mj-lt"/>
            </a:endParaRPr>
          </a:p>
          <a:p>
            <a:r>
              <a:rPr lang="ko-KR" altLang="en-US" sz="1463" b="1" dirty="0">
                <a:latin typeface="+mj-lt"/>
              </a:rPr>
              <a:t>정확도</a:t>
            </a:r>
            <a:r>
              <a:rPr lang="ko-KR" altLang="en-US" sz="1463" dirty="0">
                <a:latin typeface="+mj-lt"/>
              </a:rPr>
              <a:t>는 </a:t>
            </a:r>
            <a:endParaRPr lang="en-US" altLang="ko-KR" sz="1463" dirty="0">
              <a:latin typeface="+mj-lt"/>
            </a:endParaRPr>
          </a:p>
          <a:p>
            <a:r>
              <a:rPr lang="ko-KR" altLang="en-US" sz="1463" dirty="0" err="1">
                <a:latin typeface="+mj-lt"/>
              </a:rPr>
              <a:t>그레디언트</a:t>
            </a:r>
            <a:r>
              <a:rPr lang="ko-KR" altLang="en-US" sz="1463" dirty="0">
                <a:latin typeface="+mj-lt"/>
              </a:rPr>
              <a:t> </a:t>
            </a:r>
            <a:r>
              <a:rPr lang="ko-KR" altLang="en-US" sz="1463" dirty="0" err="1">
                <a:latin typeface="+mj-lt"/>
              </a:rPr>
              <a:t>부스팅</a:t>
            </a:r>
            <a:r>
              <a:rPr lang="ko-KR" altLang="en-US" sz="1463" dirty="0">
                <a:latin typeface="+mj-lt"/>
              </a:rPr>
              <a:t> </a:t>
            </a:r>
            <a:r>
              <a:rPr lang="en-US" altLang="ko-KR" sz="1463" dirty="0">
                <a:latin typeface="+mj-lt"/>
              </a:rPr>
              <a:t>&gt; </a:t>
            </a:r>
            <a:r>
              <a:rPr lang="ko-KR" altLang="en-US" sz="1463" dirty="0" err="1">
                <a:latin typeface="+mj-lt"/>
              </a:rPr>
              <a:t>랜덤포레스트</a:t>
            </a:r>
            <a:r>
              <a:rPr lang="ko-KR" altLang="en-US" sz="1463" dirty="0">
                <a:latin typeface="+mj-lt"/>
              </a:rPr>
              <a:t> </a:t>
            </a:r>
            <a:r>
              <a:rPr lang="en-US" altLang="ko-KR" sz="1463" dirty="0">
                <a:latin typeface="+mj-lt"/>
              </a:rPr>
              <a:t>&gt; </a:t>
            </a:r>
            <a:r>
              <a:rPr lang="ko-KR" altLang="en-US" sz="1463" dirty="0">
                <a:latin typeface="+mj-lt"/>
              </a:rPr>
              <a:t>의사결정나무 </a:t>
            </a:r>
            <a:r>
              <a:rPr lang="en-US" altLang="ko-KR" sz="1463" dirty="0">
                <a:latin typeface="+mj-lt"/>
              </a:rPr>
              <a:t>&gt; </a:t>
            </a:r>
            <a:r>
              <a:rPr lang="ko-KR" altLang="en-US" sz="1463" dirty="0">
                <a:latin typeface="+mj-lt"/>
              </a:rPr>
              <a:t>다중회귀분석 순으로 높게 나왔다</a:t>
            </a:r>
            <a:r>
              <a:rPr lang="en-US" altLang="ko-KR" sz="1463" dirty="0">
                <a:latin typeface="+mj-lt"/>
              </a:rPr>
              <a:t>.</a:t>
            </a:r>
          </a:p>
          <a:p>
            <a:endParaRPr lang="en-US" altLang="ko-KR" sz="1463" dirty="0">
              <a:latin typeface="+mj-lt"/>
            </a:endParaRPr>
          </a:p>
          <a:p>
            <a:r>
              <a:rPr lang="en-US" altLang="ko-KR" sz="1463" b="1" dirty="0" err="1">
                <a:latin typeface="+mj-lt"/>
              </a:rPr>
              <a:t>MSE</a:t>
            </a:r>
            <a:r>
              <a:rPr lang="ko-KR" altLang="en-US" sz="1463" dirty="0">
                <a:latin typeface="+mj-lt"/>
              </a:rPr>
              <a:t>는 </a:t>
            </a:r>
            <a:endParaRPr lang="en-US" altLang="ko-KR" sz="1463" dirty="0">
              <a:latin typeface="+mj-lt"/>
            </a:endParaRPr>
          </a:p>
          <a:p>
            <a:r>
              <a:rPr lang="ko-KR" altLang="en-US" sz="1463" dirty="0">
                <a:latin typeface="+mj-lt"/>
              </a:rPr>
              <a:t>다중회귀분석 </a:t>
            </a:r>
            <a:r>
              <a:rPr lang="en-US" altLang="ko-KR" sz="1463" dirty="0">
                <a:latin typeface="+mj-lt"/>
              </a:rPr>
              <a:t>&gt; </a:t>
            </a:r>
            <a:r>
              <a:rPr lang="ko-KR" altLang="en-US" sz="1463" dirty="0">
                <a:latin typeface="+mj-lt"/>
              </a:rPr>
              <a:t>의사결정나무 </a:t>
            </a:r>
            <a:r>
              <a:rPr lang="en-US" altLang="ko-KR" sz="1463" dirty="0">
                <a:latin typeface="+mj-lt"/>
              </a:rPr>
              <a:t>&gt; </a:t>
            </a:r>
            <a:r>
              <a:rPr lang="ko-KR" altLang="en-US" sz="1463" dirty="0" err="1">
                <a:latin typeface="+mj-lt"/>
              </a:rPr>
              <a:t>랜덤포레스트</a:t>
            </a:r>
            <a:r>
              <a:rPr lang="ko-KR" altLang="en-US" sz="1463" dirty="0">
                <a:latin typeface="+mj-lt"/>
              </a:rPr>
              <a:t> </a:t>
            </a:r>
            <a:r>
              <a:rPr lang="en-US" altLang="ko-KR" sz="1463" dirty="0">
                <a:latin typeface="+mj-lt"/>
              </a:rPr>
              <a:t>&gt; </a:t>
            </a:r>
            <a:r>
              <a:rPr lang="ko-KR" altLang="en-US" sz="1463" dirty="0" err="1">
                <a:latin typeface="+mj-lt"/>
              </a:rPr>
              <a:t>그레디언트</a:t>
            </a:r>
            <a:r>
              <a:rPr lang="ko-KR" altLang="en-US" sz="1463" dirty="0">
                <a:latin typeface="+mj-lt"/>
              </a:rPr>
              <a:t> </a:t>
            </a:r>
            <a:r>
              <a:rPr lang="ko-KR" altLang="en-US" sz="1463" dirty="0" err="1">
                <a:latin typeface="+mj-lt"/>
              </a:rPr>
              <a:t>부스팅</a:t>
            </a:r>
            <a:r>
              <a:rPr lang="ko-KR" altLang="en-US" sz="1463" dirty="0">
                <a:latin typeface="+mj-lt"/>
              </a:rPr>
              <a:t> 순으로 높게 나왔다</a:t>
            </a:r>
            <a:r>
              <a:rPr lang="en-US" altLang="ko-KR" sz="1463" dirty="0">
                <a:latin typeface="+mj-lt"/>
              </a:rPr>
              <a:t>.</a:t>
            </a:r>
          </a:p>
        </p:txBody>
      </p:sp>
      <p:pic>
        <p:nvPicPr>
          <p:cNvPr id="5" name="그림 4" descr="스크린샷이(가) 표시된 사진&#10;&#10;자동 생성된 설명">
            <a:extLst>
              <a:ext uri="{FF2B5EF4-FFF2-40B4-BE49-F238E27FC236}">
                <a16:creationId xmlns:a16="http://schemas.microsoft.com/office/drawing/2014/main" id="{00AEA5FD-BB80-4863-9B78-6F7D72D9B7A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1" t="10843"/>
          <a:stretch/>
        </p:blipFill>
        <p:spPr>
          <a:xfrm>
            <a:off x="1243633" y="1410050"/>
            <a:ext cx="2834517" cy="3037461"/>
          </a:xfrm>
          <a:prstGeom prst="rect">
            <a:avLst/>
          </a:prstGeom>
        </p:spPr>
      </p:pic>
      <p:pic>
        <p:nvPicPr>
          <p:cNvPr id="8" name="그림 7" descr="스크린샷이(가) 표시된 사진&#10;&#10;자동 생성된 설명">
            <a:extLst>
              <a:ext uri="{FF2B5EF4-FFF2-40B4-BE49-F238E27FC236}">
                <a16:creationId xmlns:a16="http://schemas.microsoft.com/office/drawing/2014/main" id="{A5266269-FFD2-436B-BEF3-313E31327E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4678" y="1410050"/>
            <a:ext cx="4527689" cy="3238414"/>
          </a:xfrm>
          <a:prstGeom prst="rect">
            <a:avLst/>
          </a:prstGeom>
        </p:spPr>
      </p:pic>
      <p:sp>
        <p:nvSpPr>
          <p:cNvPr id="2" name="CustomShape 2">
            <a:extLst>
              <a:ext uri="{FF2B5EF4-FFF2-40B4-BE49-F238E27FC236}">
                <a16:creationId xmlns:a16="http://schemas.microsoft.com/office/drawing/2014/main" id="{729777F2-0DA0-4DE6-B1A4-973C7A2F44F3}"/>
              </a:ext>
            </a:extLst>
          </p:cNvPr>
          <p:cNvSpPr/>
          <p:nvPr/>
        </p:nvSpPr>
        <p:spPr>
          <a:xfrm>
            <a:off x="270720" y="132840"/>
            <a:ext cx="7778160" cy="395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2000" b="0" strike="noStrike" spc="-97" dirty="0" err="1">
                <a:solidFill>
                  <a:srgbClr val="002060"/>
                </a:solidFill>
                <a:latin typeface="HY견고딕"/>
                <a:ea typeface="HY견고딕"/>
              </a:rPr>
              <a:t>모델링</a:t>
            </a:r>
            <a:r>
              <a:rPr lang="en-US" sz="2000" b="0" strike="noStrike" spc="-97" dirty="0">
                <a:solidFill>
                  <a:srgbClr val="002060"/>
                </a:solidFill>
                <a:latin typeface="HY견고딕"/>
                <a:ea typeface="HY견고딕"/>
              </a:rPr>
              <a:t> &amp; </a:t>
            </a:r>
            <a:r>
              <a:rPr lang="en-US" sz="2000" b="0" strike="noStrike" spc="-97" dirty="0" err="1">
                <a:solidFill>
                  <a:srgbClr val="002060"/>
                </a:solidFill>
                <a:latin typeface="HY견고딕"/>
                <a:ea typeface="HY견고딕"/>
              </a:rPr>
              <a:t>요약</a:t>
            </a:r>
            <a:endParaRPr lang="en-US" sz="2000" b="0" strike="noStrike" spc="-1" dirty="0">
              <a:latin typeface="Arial"/>
            </a:endParaRPr>
          </a:p>
        </p:txBody>
      </p:sp>
      <p:sp>
        <p:nvSpPr>
          <p:cNvPr id="3" name="CustomShape 1">
            <a:extLst>
              <a:ext uri="{FF2B5EF4-FFF2-40B4-BE49-F238E27FC236}">
                <a16:creationId xmlns:a16="http://schemas.microsoft.com/office/drawing/2014/main" id="{D82DF493-30AE-4079-87FC-2B60E0F31725}"/>
              </a:ext>
            </a:extLst>
          </p:cNvPr>
          <p:cNvSpPr/>
          <p:nvPr/>
        </p:nvSpPr>
        <p:spPr>
          <a:xfrm>
            <a:off x="5988600" y="215640"/>
            <a:ext cx="3723120" cy="27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en-US" sz="1600" b="0" i="1" strike="noStrike" spc="-1">
                <a:solidFill>
                  <a:srgbClr val="002060"/>
                </a:solidFill>
                <a:latin typeface="HY견고딕"/>
                <a:ea typeface="HY견고딕"/>
              </a:rPr>
              <a:t>종합 실습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967583-45C9-4A29-8ACF-E959C66825DF}"/>
              </a:ext>
            </a:extLst>
          </p:cNvPr>
          <p:cNvSpPr txBox="1"/>
          <p:nvPr/>
        </p:nvSpPr>
        <p:spPr>
          <a:xfrm>
            <a:off x="546755" y="763571"/>
            <a:ext cx="2366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최종 모델 결과</a:t>
            </a:r>
          </a:p>
        </p:txBody>
      </p:sp>
    </p:spTree>
    <p:extLst>
      <p:ext uri="{BB962C8B-B14F-4D97-AF65-F5344CB8AC3E}">
        <p14:creationId xmlns:p14="http://schemas.microsoft.com/office/powerpoint/2010/main" val="7631678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3">
            <a:extLst>
              <a:ext uri="{FF2B5EF4-FFF2-40B4-BE49-F238E27FC236}">
                <a16:creationId xmlns:a16="http://schemas.microsoft.com/office/drawing/2014/main" id="{7F99AC15-7248-4299-A0A2-5C659F697E73}"/>
              </a:ext>
            </a:extLst>
          </p:cNvPr>
          <p:cNvSpPr/>
          <p:nvPr/>
        </p:nvSpPr>
        <p:spPr>
          <a:xfrm>
            <a:off x="1377590" y="2450139"/>
            <a:ext cx="7324493" cy="195772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73125" tIns="36563" rIns="73125" bIns="36563"/>
          <a:lstStyle/>
          <a:p>
            <a:pPr>
              <a:lnSpc>
                <a:spcPct val="100000"/>
              </a:lnSpc>
            </a:pPr>
            <a:endParaRPr lang="en-US" altLang="ko-KR" sz="1463" spc="-1" dirty="0">
              <a:latin typeface="Arial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7A7B4F2C-5403-4653-8552-A15F11751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0875" y="1615193"/>
            <a:ext cx="3505418" cy="2234554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716808FD-8259-42AA-9B79-5CB35B276C91}"/>
              </a:ext>
            </a:extLst>
          </p:cNvPr>
          <p:cNvSpPr/>
          <p:nvPr/>
        </p:nvSpPr>
        <p:spPr>
          <a:xfrm>
            <a:off x="1792914" y="4230257"/>
            <a:ext cx="6320173" cy="158671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endParaRPr lang="en-US" altLang="ko-KR" sz="1300" spc="-1" dirty="0">
              <a:solidFill>
                <a:schemeClr val="tx1"/>
              </a:solidFill>
            </a:endParaRPr>
          </a:p>
          <a:p>
            <a:r>
              <a:rPr lang="en-US" altLang="ko-KR" sz="1300" spc="-1" dirty="0">
                <a:solidFill>
                  <a:schemeClr val="tx1"/>
                </a:solidFill>
              </a:rPr>
              <a:t>       &lt;</a:t>
            </a:r>
            <a:r>
              <a:rPr lang="ko-KR" altLang="en-US" sz="1300" spc="-1" dirty="0">
                <a:solidFill>
                  <a:schemeClr val="tx1"/>
                </a:solidFill>
              </a:rPr>
              <a:t>가설</a:t>
            </a:r>
            <a:r>
              <a:rPr lang="en-US" altLang="ko-KR" sz="1300" spc="-1" dirty="0">
                <a:solidFill>
                  <a:schemeClr val="tx1"/>
                </a:solidFill>
              </a:rPr>
              <a:t>1&gt; </a:t>
            </a:r>
            <a:r>
              <a:rPr lang="en-US" altLang="ko-KR" sz="1300" spc="-1" dirty="0" err="1">
                <a:solidFill>
                  <a:schemeClr val="tx1"/>
                </a:solidFill>
              </a:rPr>
              <a:t>지역의</a:t>
            </a:r>
            <a:r>
              <a:rPr lang="en-US" altLang="ko-KR" sz="1300" spc="-1" dirty="0">
                <a:solidFill>
                  <a:schemeClr val="tx1"/>
                </a:solidFill>
              </a:rPr>
              <a:t> </a:t>
            </a:r>
            <a:r>
              <a:rPr lang="en-US" altLang="ko-KR" sz="1300" spc="-1" dirty="0" err="1">
                <a:solidFill>
                  <a:schemeClr val="tx1"/>
                </a:solidFill>
              </a:rPr>
              <a:t>저소득층</a:t>
            </a:r>
            <a:r>
              <a:rPr lang="en-US" altLang="ko-KR" sz="1300" spc="-1" dirty="0">
                <a:solidFill>
                  <a:schemeClr val="tx1"/>
                </a:solidFill>
              </a:rPr>
              <a:t> </a:t>
            </a:r>
            <a:r>
              <a:rPr lang="en-US" altLang="ko-KR" sz="1300" spc="-1" dirty="0" err="1">
                <a:solidFill>
                  <a:schemeClr val="tx1"/>
                </a:solidFill>
              </a:rPr>
              <a:t>비율이</a:t>
            </a:r>
            <a:r>
              <a:rPr lang="en-US" altLang="ko-KR" sz="1300" spc="-1" dirty="0">
                <a:solidFill>
                  <a:schemeClr val="tx1"/>
                </a:solidFill>
              </a:rPr>
              <a:t> </a:t>
            </a:r>
            <a:r>
              <a:rPr lang="en-US" altLang="ko-KR" sz="1300" spc="-1" dirty="0" err="1">
                <a:solidFill>
                  <a:schemeClr val="tx1"/>
                </a:solidFill>
              </a:rPr>
              <a:t>낮을수록</a:t>
            </a:r>
            <a:r>
              <a:rPr lang="en-US" altLang="ko-KR" sz="1300" spc="-1" dirty="0">
                <a:solidFill>
                  <a:schemeClr val="tx1"/>
                </a:solidFill>
              </a:rPr>
              <a:t> 집 </a:t>
            </a:r>
            <a:r>
              <a:rPr lang="en-US" altLang="ko-KR" sz="1300" spc="-1" dirty="0" err="1">
                <a:solidFill>
                  <a:schemeClr val="tx1"/>
                </a:solidFill>
              </a:rPr>
              <a:t>값이</a:t>
            </a:r>
            <a:r>
              <a:rPr lang="en-US" altLang="ko-KR" sz="1300" spc="-1" dirty="0">
                <a:solidFill>
                  <a:schemeClr val="tx1"/>
                </a:solidFill>
              </a:rPr>
              <a:t> </a:t>
            </a:r>
            <a:r>
              <a:rPr lang="en-US" altLang="ko-KR" sz="1300" spc="-1" dirty="0" err="1">
                <a:solidFill>
                  <a:schemeClr val="tx1"/>
                </a:solidFill>
              </a:rPr>
              <a:t>높을</a:t>
            </a:r>
            <a:r>
              <a:rPr lang="en-US" altLang="ko-KR" sz="1300" spc="-1" dirty="0">
                <a:solidFill>
                  <a:schemeClr val="tx1"/>
                </a:solidFill>
              </a:rPr>
              <a:t> </a:t>
            </a:r>
            <a:r>
              <a:rPr lang="en-US" altLang="ko-KR" sz="1300" spc="-1" dirty="0" err="1">
                <a:solidFill>
                  <a:schemeClr val="tx1"/>
                </a:solidFill>
              </a:rPr>
              <a:t>것이다</a:t>
            </a:r>
            <a:r>
              <a:rPr lang="en-US" altLang="ko-KR" sz="1300" spc="-1" dirty="0">
                <a:solidFill>
                  <a:schemeClr val="tx1"/>
                </a:solidFill>
              </a:rPr>
              <a:t>. </a:t>
            </a:r>
            <a:r>
              <a:rPr lang="en-US" altLang="ko-KR" sz="1300" spc="-1" dirty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 altLang="ko-KR" sz="1300" spc="-1" dirty="0">
                <a:solidFill>
                  <a:schemeClr val="tx1"/>
                </a:solidFill>
              </a:rPr>
              <a:t> </a:t>
            </a:r>
            <a:r>
              <a:rPr lang="ko-KR" altLang="en-US" sz="1300" b="1" spc="-1" dirty="0">
                <a:solidFill>
                  <a:schemeClr val="tx1"/>
                </a:solidFill>
                <a:highlight>
                  <a:srgbClr val="FFFF00"/>
                </a:highlight>
              </a:rPr>
              <a:t>참</a:t>
            </a:r>
            <a:endParaRPr lang="en-US" altLang="ko-KR" sz="1300" b="1" spc="-1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endParaRPr lang="en-US" altLang="ko-KR" sz="1300" spc="-1" dirty="0">
              <a:solidFill>
                <a:schemeClr val="tx1"/>
              </a:solidFill>
            </a:endParaRPr>
          </a:p>
          <a:p>
            <a:r>
              <a:rPr lang="en-US" altLang="ko-KR" sz="1300" spc="-1" dirty="0">
                <a:solidFill>
                  <a:schemeClr val="tx1"/>
                </a:solidFill>
              </a:rPr>
              <a:t>       &lt;</a:t>
            </a:r>
            <a:r>
              <a:rPr lang="ko-KR" altLang="en-US" sz="1300" spc="-1" dirty="0">
                <a:solidFill>
                  <a:schemeClr val="tx1"/>
                </a:solidFill>
              </a:rPr>
              <a:t>가설</a:t>
            </a:r>
            <a:r>
              <a:rPr lang="en-US" altLang="ko-KR" sz="1300" spc="-1" dirty="0">
                <a:solidFill>
                  <a:schemeClr val="tx1"/>
                </a:solidFill>
              </a:rPr>
              <a:t>2&gt; </a:t>
            </a:r>
            <a:r>
              <a:rPr lang="en-US" altLang="ko-KR" sz="1300" spc="-1" dirty="0" err="1">
                <a:solidFill>
                  <a:schemeClr val="tx1"/>
                </a:solidFill>
              </a:rPr>
              <a:t>학생</a:t>
            </a:r>
            <a:r>
              <a:rPr lang="en-US" altLang="ko-KR" sz="1300" spc="-1" dirty="0">
                <a:solidFill>
                  <a:schemeClr val="tx1"/>
                </a:solidFill>
              </a:rPr>
              <a:t>/</a:t>
            </a:r>
            <a:r>
              <a:rPr lang="en-US" altLang="ko-KR" sz="1300" spc="-1" dirty="0" err="1">
                <a:solidFill>
                  <a:schemeClr val="tx1"/>
                </a:solidFill>
              </a:rPr>
              <a:t>교사</a:t>
            </a:r>
            <a:r>
              <a:rPr lang="en-US" altLang="ko-KR" sz="1300" spc="-1" dirty="0">
                <a:solidFill>
                  <a:schemeClr val="tx1"/>
                </a:solidFill>
              </a:rPr>
              <a:t> </a:t>
            </a:r>
            <a:r>
              <a:rPr lang="en-US" altLang="ko-KR" sz="1300" spc="-1" dirty="0" err="1">
                <a:solidFill>
                  <a:schemeClr val="tx1"/>
                </a:solidFill>
              </a:rPr>
              <a:t>비율이</a:t>
            </a:r>
            <a:r>
              <a:rPr lang="en-US" altLang="ko-KR" sz="1300" spc="-1" dirty="0">
                <a:solidFill>
                  <a:schemeClr val="tx1"/>
                </a:solidFill>
              </a:rPr>
              <a:t> </a:t>
            </a:r>
            <a:r>
              <a:rPr lang="en-US" altLang="ko-KR" sz="1300" spc="-1" dirty="0" err="1">
                <a:solidFill>
                  <a:schemeClr val="tx1"/>
                </a:solidFill>
              </a:rPr>
              <a:t>높을수록</a:t>
            </a:r>
            <a:r>
              <a:rPr lang="en-US" altLang="ko-KR" sz="1300" spc="-1" dirty="0">
                <a:solidFill>
                  <a:schemeClr val="tx1"/>
                </a:solidFill>
              </a:rPr>
              <a:t> 집 </a:t>
            </a:r>
            <a:r>
              <a:rPr lang="en-US" altLang="ko-KR" sz="1300" spc="-1" dirty="0" err="1">
                <a:solidFill>
                  <a:schemeClr val="tx1"/>
                </a:solidFill>
              </a:rPr>
              <a:t>값이</a:t>
            </a:r>
            <a:r>
              <a:rPr lang="en-US" altLang="ko-KR" sz="1300" spc="-1" dirty="0">
                <a:solidFill>
                  <a:schemeClr val="tx1"/>
                </a:solidFill>
              </a:rPr>
              <a:t> </a:t>
            </a:r>
            <a:r>
              <a:rPr lang="en-US" altLang="ko-KR" sz="1300" spc="-1" dirty="0" err="1">
                <a:solidFill>
                  <a:schemeClr val="tx1"/>
                </a:solidFill>
              </a:rPr>
              <a:t>높을</a:t>
            </a:r>
            <a:r>
              <a:rPr lang="en-US" altLang="ko-KR" sz="1300" spc="-1" dirty="0">
                <a:solidFill>
                  <a:schemeClr val="tx1"/>
                </a:solidFill>
              </a:rPr>
              <a:t> </a:t>
            </a:r>
            <a:r>
              <a:rPr lang="en-US" altLang="ko-KR" sz="1300" spc="-1" dirty="0" err="1">
                <a:solidFill>
                  <a:schemeClr val="tx1"/>
                </a:solidFill>
              </a:rPr>
              <a:t>것이다</a:t>
            </a:r>
            <a:r>
              <a:rPr lang="en-US" altLang="ko-KR" sz="1300" spc="-1" dirty="0">
                <a:solidFill>
                  <a:schemeClr val="tx1"/>
                </a:solidFill>
              </a:rPr>
              <a:t>. </a:t>
            </a:r>
            <a:r>
              <a:rPr lang="en-US" altLang="ko-KR" sz="1300" spc="-1" dirty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 altLang="ko-KR" sz="1300" spc="-1" dirty="0">
                <a:solidFill>
                  <a:schemeClr val="tx1"/>
                </a:solidFill>
              </a:rPr>
              <a:t> </a:t>
            </a:r>
            <a:r>
              <a:rPr lang="ko-KR" altLang="en-US" sz="1300" b="1" spc="-1" dirty="0">
                <a:solidFill>
                  <a:schemeClr val="tx1"/>
                </a:solidFill>
                <a:highlight>
                  <a:srgbClr val="FFFF00"/>
                </a:highlight>
              </a:rPr>
              <a:t>거짓</a:t>
            </a:r>
            <a:endParaRPr lang="en-US" altLang="ko-KR" sz="1300" b="1" spc="-1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endParaRPr lang="en-US" altLang="ko-KR" sz="1300" spc="-1" dirty="0">
              <a:solidFill>
                <a:schemeClr val="tx1"/>
              </a:solidFill>
            </a:endParaRPr>
          </a:p>
          <a:p>
            <a:r>
              <a:rPr lang="en-US" altLang="ko-KR" sz="1300" spc="-1" dirty="0">
                <a:solidFill>
                  <a:schemeClr val="tx1"/>
                </a:solidFill>
              </a:rPr>
              <a:t>       &lt;</a:t>
            </a:r>
            <a:r>
              <a:rPr lang="ko-KR" altLang="en-US" sz="1300" spc="-1" dirty="0">
                <a:solidFill>
                  <a:schemeClr val="tx1"/>
                </a:solidFill>
              </a:rPr>
              <a:t>가설</a:t>
            </a:r>
            <a:r>
              <a:rPr lang="en-US" altLang="ko-KR" sz="1300" spc="-1" dirty="0">
                <a:solidFill>
                  <a:schemeClr val="tx1"/>
                </a:solidFill>
              </a:rPr>
              <a:t>3&gt; </a:t>
            </a:r>
            <a:r>
              <a:rPr lang="en-US" altLang="ko-KR" sz="1300" spc="-1" dirty="0" err="1">
                <a:solidFill>
                  <a:schemeClr val="tx1"/>
                </a:solidFill>
              </a:rPr>
              <a:t>보스턴</a:t>
            </a:r>
            <a:r>
              <a:rPr lang="en-US" altLang="ko-KR" sz="1300" spc="-1" dirty="0">
                <a:solidFill>
                  <a:schemeClr val="tx1"/>
                </a:solidFill>
              </a:rPr>
              <a:t> 시 </a:t>
            </a:r>
            <a:r>
              <a:rPr lang="en-US" altLang="ko-KR" sz="1300" spc="-1" dirty="0" err="1">
                <a:solidFill>
                  <a:schemeClr val="tx1"/>
                </a:solidFill>
              </a:rPr>
              <a:t>고용시설까지</a:t>
            </a:r>
            <a:r>
              <a:rPr lang="en-US" altLang="ko-KR" sz="1300" spc="-1" dirty="0">
                <a:solidFill>
                  <a:schemeClr val="tx1"/>
                </a:solidFill>
              </a:rPr>
              <a:t> </a:t>
            </a:r>
            <a:r>
              <a:rPr lang="en-US" altLang="ko-KR" sz="1300" spc="-1" dirty="0" err="1">
                <a:solidFill>
                  <a:schemeClr val="tx1"/>
                </a:solidFill>
              </a:rPr>
              <a:t>거리가</a:t>
            </a:r>
            <a:r>
              <a:rPr lang="en-US" altLang="ko-KR" sz="1300" spc="-1" dirty="0">
                <a:solidFill>
                  <a:schemeClr val="tx1"/>
                </a:solidFill>
              </a:rPr>
              <a:t> </a:t>
            </a:r>
            <a:r>
              <a:rPr lang="en-US" altLang="ko-KR" sz="1300" spc="-1" dirty="0" err="1">
                <a:solidFill>
                  <a:schemeClr val="tx1"/>
                </a:solidFill>
              </a:rPr>
              <a:t>가까울수록</a:t>
            </a:r>
            <a:r>
              <a:rPr lang="en-US" altLang="ko-KR" sz="1300" spc="-1" dirty="0">
                <a:solidFill>
                  <a:schemeClr val="tx1"/>
                </a:solidFill>
              </a:rPr>
              <a:t> </a:t>
            </a:r>
            <a:r>
              <a:rPr lang="en-US" altLang="ko-KR" sz="1300" spc="-1" dirty="0" err="1">
                <a:solidFill>
                  <a:schemeClr val="tx1"/>
                </a:solidFill>
              </a:rPr>
              <a:t>집값이</a:t>
            </a:r>
            <a:r>
              <a:rPr lang="en-US" altLang="ko-KR" sz="1300" spc="-1" dirty="0">
                <a:solidFill>
                  <a:schemeClr val="tx1"/>
                </a:solidFill>
              </a:rPr>
              <a:t> </a:t>
            </a:r>
            <a:r>
              <a:rPr lang="en-US" altLang="ko-KR" sz="1300" spc="-1" dirty="0" err="1">
                <a:solidFill>
                  <a:schemeClr val="tx1"/>
                </a:solidFill>
              </a:rPr>
              <a:t>높을</a:t>
            </a:r>
            <a:r>
              <a:rPr lang="en-US" altLang="ko-KR" sz="1300" spc="-1" dirty="0">
                <a:solidFill>
                  <a:schemeClr val="tx1"/>
                </a:solidFill>
              </a:rPr>
              <a:t> </a:t>
            </a:r>
            <a:r>
              <a:rPr lang="en-US" altLang="ko-KR" sz="1300" spc="-1" dirty="0" err="1">
                <a:solidFill>
                  <a:schemeClr val="tx1"/>
                </a:solidFill>
              </a:rPr>
              <a:t>것이다</a:t>
            </a:r>
            <a:r>
              <a:rPr lang="en-US" altLang="ko-KR" sz="1300" spc="-1" dirty="0">
                <a:solidFill>
                  <a:schemeClr val="tx1"/>
                </a:solidFill>
              </a:rPr>
              <a:t>. </a:t>
            </a:r>
            <a:r>
              <a:rPr lang="en-US" altLang="ko-KR" sz="1300" spc="-1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300" b="1" spc="-1" dirty="0">
                <a:solidFill>
                  <a:schemeClr val="tx1"/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참</a:t>
            </a:r>
            <a:r>
              <a:rPr lang="en-US" altLang="ko-KR" sz="1300" spc="-1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endParaRPr lang="en-US" altLang="ko-KR" sz="1300" spc="-1" dirty="0">
              <a:solidFill>
                <a:schemeClr val="tx1"/>
              </a:solidFill>
            </a:endParaRPr>
          </a:p>
          <a:p>
            <a:endParaRPr lang="en-US" altLang="ko-KR" sz="1300" spc="-1" dirty="0">
              <a:solidFill>
                <a:schemeClr val="tx1"/>
              </a:solidFill>
            </a:endParaRPr>
          </a:p>
          <a:p>
            <a:r>
              <a:rPr lang="en-US" altLang="ko-KR" sz="1300" spc="-1" dirty="0">
                <a:solidFill>
                  <a:schemeClr val="tx1"/>
                </a:solidFill>
              </a:rPr>
              <a:t>       &lt;</a:t>
            </a:r>
            <a:r>
              <a:rPr lang="ko-KR" altLang="en-US" sz="1300" spc="-1" dirty="0">
                <a:solidFill>
                  <a:schemeClr val="tx1"/>
                </a:solidFill>
              </a:rPr>
              <a:t>가설</a:t>
            </a:r>
            <a:r>
              <a:rPr lang="en-US" altLang="ko-KR" sz="1300" spc="-1" dirty="0">
                <a:solidFill>
                  <a:schemeClr val="tx1"/>
                </a:solidFill>
              </a:rPr>
              <a:t>4&gt; </a:t>
            </a:r>
            <a:r>
              <a:rPr lang="en-US" altLang="ko-KR" sz="1300" spc="-1" dirty="0" err="1">
                <a:solidFill>
                  <a:schemeClr val="tx1"/>
                </a:solidFill>
              </a:rPr>
              <a:t>산화질소</a:t>
            </a:r>
            <a:r>
              <a:rPr lang="en-US" altLang="ko-KR" sz="1300" spc="-1" dirty="0">
                <a:solidFill>
                  <a:schemeClr val="tx1"/>
                </a:solidFill>
              </a:rPr>
              <a:t> </a:t>
            </a:r>
            <a:r>
              <a:rPr lang="en-US" altLang="ko-KR" sz="1300" spc="-1" dirty="0" err="1">
                <a:solidFill>
                  <a:schemeClr val="tx1"/>
                </a:solidFill>
              </a:rPr>
              <a:t>농도가</a:t>
            </a:r>
            <a:r>
              <a:rPr lang="en-US" altLang="ko-KR" sz="1300" spc="-1" dirty="0">
                <a:solidFill>
                  <a:schemeClr val="tx1"/>
                </a:solidFill>
              </a:rPr>
              <a:t> </a:t>
            </a:r>
            <a:r>
              <a:rPr lang="en-US" altLang="ko-KR" sz="1300" spc="-1" dirty="0" err="1">
                <a:solidFill>
                  <a:schemeClr val="tx1"/>
                </a:solidFill>
              </a:rPr>
              <a:t>높을수록</a:t>
            </a:r>
            <a:r>
              <a:rPr lang="en-US" altLang="ko-KR" sz="1300" spc="-1" dirty="0">
                <a:solidFill>
                  <a:schemeClr val="tx1"/>
                </a:solidFill>
              </a:rPr>
              <a:t> </a:t>
            </a:r>
            <a:r>
              <a:rPr lang="en-US" altLang="ko-KR" sz="1300" spc="-1" dirty="0" err="1">
                <a:solidFill>
                  <a:schemeClr val="tx1"/>
                </a:solidFill>
              </a:rPr>
              <a:t>집값이</a:t>
            </a:r>
            <a:r>
              <a:rPr lang="en-US" altLang="ko-KR" sz="1300" spc="-1" dirty="0">
                <a:solidFill>
                  <a:schemeClr val="tx1"/>
                </a:solidFill>
              </a:rPr>
              <a:t> </a:t>
            </a:r>
            <a:r>
              <a:rPr lang="en-US" altLang="ko-KR" sz="1300" spc="-1" dirty="0" err="1">
                <a:solidFill>
                  <a:schemeClr val="tx1"/>
                </a:solidFill>
              </a:rPr>
              <a:t>낮을</a:t>
            </a:r>
            <a:r>
              <a:rPr lang="en-US" altLang="ko-KR" sz="1300" spc="-1" dirty="0">
                <a:solidFill>
                  <a:schemeClr val="tx1"/>
                </a:solidFill>
              </a:rPr>
              <a:t> </a:t>
            </a:r>
            <a:r>
              <a:rPr lang="en-US" altLang="ko-KR" sz="1300" spc="-1" dirty="0" err="1">
                <a:solidFill>
                  <a:schemeClr val="tx1"/>
                </a:solidFill>
              </a:rPr>
              <a:t>것이다</a:t>
            </a:r>
            <a:r>
              <a:rPr lang="en-US" altLang="ko-KR" sz="1300" spc="-1" dirty="0">
                <a:solidFill>
                  <a:schemeClr val="tx1"/>
                </a:solidFill>
              </a:rPr>
              <a:t>. </a:t>
            </a:r>
            <a:r>
              <a:rPr lang="en-US" altLang="ko-KR" sz="1300" spc="-1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300" b="1" spc="-1" dirty="0">
                <a:solidFill>
                  <a:schemeClr val="tx1"/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참</a:t>
            </a:r>
            <a:endParaRPr lang="en-US" altLang="ko-KR" sz="1300" b="1" spc="-1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>
              <a:lnSpc>
                <a:spcPct val="150000"/>
              </a:lnSpc>
              <a:defRPr/>
            </a:pPr>
            <a:endParaRPr lang="en-US" altLang="ko-KR" sz="13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B21980A0-0D3D-46E4-AC48-B56968E98C53}"/>
              </a:ext>
            </a:extLst>
          </p:cNvPr>
          <p:cNvSpPr/>
          <p:nvPr/>
        </p:nvSpPr>
        <p:spPr>
          <a:xfrm>
            <a:off x="3428625" y="2445402"/>
            <a:ext cx="339372" cy="339714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23A08B5F-12A4-4ACD-96A8-84B0B394D9A4}"/>
              </a:ext>
            </a:extLst>
          </p:cNvPr>
          <p:cNvSpPr/>
          <p:nvPr/>
        </p:nvSpPr>
        <p:spPr>
          <a:xfrm>
            <a:off x="3241098" y="1590813"/>
            <a:ext cx="503462" cy="437696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5BFE3269-C08B-4A29-B487-EC24A6690712}"/>
              </a:ext>
            </a:extLst>
          </p:cNvPr>
          <p:cNvSpPr/>
          <p:nvPr/>
        </p:nvSpPr>
        <p:spPr>
          <a:xfrm>
            <a:off x="3092518" y="2178692"/>
            <a:ext cx="643684" cy="339714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163518EA-C062-4EE0-A145-BC42F422FE92}"/>
              </a:ext>
            </a:extLst>
          </p:cNvPr>
          <p:cNvSpPr/>
          <p:nvPr/>
        </p:nvSpPr>
        <p:spPr>
          <a:xfrm>
            <a:off x="3296052" y="3036888"/>
            <a:ext cx="549403" cy="327127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3" name="CustomShape 2">
            <a:extLst>
              <a:ext uri="{FF2B5EF4-FFF2-40B4-BE49-F238E27FC236}">
                <a16:creationId xmlns:a16="http://schemas.microsoft.com/office/drawing/2014/main" id="{C612198B-74A6-40A4-8F29-CAD2A0FB2197}"/>
              </a:ext>
            </a:extLst>
          </p:cNvPr>
          <p:cNvSpPr/>
          <p:nvPr/>
        </p:nvSpPr>
        <p:spPr>
          <a:xfrm>
            <a:off x="270720" y="132840"/>
            <a:ext cx="7778160" cy="395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altLang="ko-KR" sz="2000" spc="-79" dirty="0" err="1">
                <a:solidFill>
                  <a:srgbClr val="002060"/>
                </a:solidFill>
                <a:latin typeface="HY견고딕"/>
                <a:ea typeface="HY견고딕"/>
              </a:rPr>
              <a:t>결론</a:t>
            </a:r>
            <a:endParaRPr lang="en-US" altLang="ko-KR" sz="2000" spc="-1" dirty="0"/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A8545D95-4E8C-4B1A-BFF8-99EAA7D66C7F}"/>
              </a:ext>
            </a:extLst>
          </p:cNvPr>
          <p:cNvSpPr/>
          <p:nvPr/>
        </p:nvSpPr>
        <p:spPr>
          <a:xfrm>
            <a:off x="5988600" y="215640"/>
            <a:ext cx="3723120" cy="27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en-US" sz="1600" b="0" i="1" strike="noStrike" spc="-1">
                <a:solidFill>
                  <a:srgbClr val="002060"/>
                </a:solidFill>
                <a:latin typeface="HY견고딕"/>
                <a:ea typeface="HY견고딕"/>
              </a:rPr>
              <a:t>종합 실습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302877-1690-469D-A592-A162606E8224}"/>
              </a:ext>
            </a:extLst>
          </p:cNvPr>
          <p:cNvSpPr txBox="1"/>
          <p:nvPr/>
        </p:nvSpPr>
        <p:spPr>
          <a:xfrm>
            <a:off x="546755" y="763571"/>
            <a:ext cx="2366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최종 모델 결과</a:t>
            </a:r>
          </a:p>
        </p:txBody>
      </p:sp>
    </p:spTree>
    <p:extLst>
      <p:ext uri="{BB962C8B-B14F-4D97-AF65-F5344CB8AC3E}">
        <p14:creationId xmlns:p14="http://schemas.microsoft.com/office/powerpoint/2010/main" val="26121493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CustomShape 2"/>
          <p:cNvSpPr/>
          <p:nvPr/>
        </p:nvSpPr>
        <p:spPr>
          <a:xfrm>
            <a:off x="1148648" y="750870"/>
            <a:ext cx="6319755" cy="3214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125" tIns="36563" rIns="73125" bIns="36563" anchor="ctr"/>
          <a:lstStyle/>
          <a:p>
            <a:pPr>
              <a:lnSpc>
                <a:spcPct val="100000"/>
              </a:lnSpc>
            </a:pPr>
            <a:endParaRPr lang="en-US" sz="1625" spc="-1" dirty="0">
              <a:latin typeface="Arial"/>
            </a:endParaRPr>
          </a:p>
        </p:txBody>
      </p:sp>
      <p:sp>
        <p:nvSpPr>
          <p:cNvPr id="2" name="CustomShape 3">
            <a:extLst>
              <a:ext uri="{FF2B5EF4-FFF2-40B4-BE49-F238E27FC236}">
                <a16:creationId xmlns:a16="http://schemas.microsoft.com/office/drawing/2014/main" id="{7F99AC15-7248-4299-A0A2-5C659F697E73}"/>
              </a:ext>
            </a:extLst>
          </p:cNvPr>
          <p:cNvSpPr/>
          <p:nvPr/>
        </p:nvSpPr>
        <p:spPr>
          <a:xfrm>
            <a:off x="1377590" y="2450139"/>
            <a:ext cx="7324493" cy="195772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73125" tIns="36563" rIns="73125" bIns="36563"/>
          <a:lstStyle/>
          <a:p>
            <a:pPr>
              <a:lnSpc>
                <a:spcPct val="100000"/>
              </a:lnSpc>
            </a:pPr>
            <a:endParaRPr lang="en-US" altLang="ko-KR" sz="1463" spc="-1" dirty="0">
              <a:latin typeface="Arial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16808FD-8259-42AA-9B79-5CB35B276C91}"/>
              </a:ext>
            </a:extLst>
          </p:cNvPr>
          <p:cNvSpPr/>
          <p:nvPr/>
        </p:nvSpPr>
        <p:spPr>
          <a:xfrm>
            <a:off x="1618043" y="1409599"/>
            <a:ext cx="6669914" cy="16647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endParaRPr lang="en-US" altLang="ko-KR" sz="1300" spc="-1" dirty="0">
              <a:solidFill>
                <a:schemeClr val="tx1"/>
              </a:solidFill>
            </a:endParaRPr>
          </a:p>
          <a:p>
            <a:r>
              <a:rPr lang="en-US" altLang="ko-KR" sz="1300" spc="-1" dirty="0">
                <a:solidFill>
                  <a:schemeClr val="tx1"/>
                </a:solidFill>
              </a:rPr>
              <a:t>       &lt;</a:t>
            </a:r>
            <a:r>
              <a:rPr lang="ko-KR" altLang="en-US" sz="1300" spc="-1" dirty="0">
                <a:solidFill>
                  <a:schemeClr val="tx1"/>
                </a:solidFill>
              </a:rPr>
              <a:t>가설</a:t>
            </a:r>
            <a:r>
              <a:rPr lang="en-US" altLang="ko-KR" sz="1300" spc="-1" dirty="0">
                <a:solidFill>
                  <a:schemeClr val="tx1"/>
                </a:solidFill>
              </a:rPr>
              <a:t>1&gt; </a:t>
            </a:r>
            <a:r>
              <a:rPr lang="en-US" altLang="ko-KR" sz="1300" spc="-1" dirty="0" err="1">
                <a:solidFill>
                  <a:schemeClr val="tx1"/>
                </a:solidFill>
              </a:rPr>
              <a:t>지역의</a:t>
            </a:r>
            <a:r>
              <a:rPr lang="en-US" altLang="ko-KR" sz="1300" spc="-1" dirty="0">
                <a:solidFill>
                  <a:schemeClr val="tx1"/>
                </a:solidFill>
              </a:rPr>
              <a:t> </a:t>
            </a:r>
            <a:r>
              <a:rPr lang="en-US" altLang="ko-KR" sz="1300" spc="-1" dirty="0" err="1">
                <a:solidFill>
                  <a:schemeClr val="tx1"/>
                </a:solidFill>
              </a:rPr>
              <a:t>저소득층</a:t>
            </a:r>
            <a:r>
              <a:rPr lang="en-US" altLang="ko-KR" sz="1300" spc="-1" dirty="0">
                <a:solidFill>
                  <a:schemeClr val="tx1"/>
                </a:solidFill>
              </a:rPr>
              <a:t> </a:t>
            </a:r>
            <a:r>
              <a:rPr lang="en-US" altLang="ko-KR" sz="1300" spc="-1" dirty="0" err="1">
                <a:solidFill>
                  <a:schemeClr val="tx1"/>
                </a:solidFill>
              </a:rPr>
              <a:t>비율이</a:t>
            </a:r>
            <a:r>
              <a:rPr lang="en-US" altLang="ko-KR" sz="1300" spc="-1" dirty="0">
                <a:solidFill>
                  <a:schemeClr val="tx1"/>
                </a:solidFill>
              </a:rPr>
              <a:t> </a:t>
            </a:r>
            <a:r>
              <a:rPr lang="en-US" altLang="ko-KR" sz="1300" spc="-1" dirty="0" err="1">
                <a:solidFill>
                  <a:schemeClr val="tx1"/>
                </a:solidFill>
              </a:rPr>
              <a:t>낮을수록</a:t>
            </a:r>
            <a:r>
              <a:rPr lang="en-US" altLang="ko-KR" sz="1300" spc="-1" dirty="0">
                <a:solidFill>
                  <a:schemeClr val="tx1"/>
                </a:solidFill>
              </a:rPr>
              <a:t> 집 </a:t>
            </a:r>
            <a:r>
              <a:rPr lang="en-US" altLang="ko-KR" sz="1300" spc="-1" dirty="0" err="1">
                <a:solidFill>
                  <a:schemeClr val="tx1"/>
                </a:solidFill>
              </a:rPr>
              <a:t>값이</a:t>
            </a:r>
            <a:r>
              <a:rPr lang="en-US" altLang="ko-KR" sz="1300" spc="-1" dirty="0">
                <a:solidFill>
                  <a:schemeClr val="tx1"/>
                </a:solidFill>
              </a:rPr>
              <a:t> </a:t>
            </a:r>
            <a:r>
              <a:rPr lang="en-US" altLang="ko-KR" sz="1300" spc="-1" dirty="0" err="1">
                <a:solidFill>
                  <a:schemeClr val="tx1"/>
                </a:solidFill>
              </a:rPr>
              <a:t>높을</a:t>
            </a:r>
            <a:r>
              <a:rPr lang="en-US" altLang="ko-KR" sz="1300" spc="-1" dirty="0">
                <a:solidFill>
                  <a:schemeClr val="tx1"/>
                </a:solidFill>
              </a:rPr>
              <a:t> </a:t>
            </a:r>
            <a:r>
              <a:rPr lang="en-US" altLang="ko-KR" sz="1300" spc="-1" dirty="0" err="1">
                <a:solidFill>
                  <a:schemeClr val="tx1"/>
                </a:solidFill>
              </a:rPr>
              <a:t>것이다</a:t>
            </a:r>
            <a:r>
              <a:rPr lang="en-US" altLang="ko-KR" sz="1300" spc="-1" dirty="0">
                <a:solidFill>
                  <a:schemeClr val="tx1"/>
                </a:solidFill>
              </a:rPr>
              <a:t>. </a:t>
            </a:r>
            <a:r>
              <a:rPr lang="en-US" altLang="ko-KR" sz="1300" spc="-1" dirty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 altLang="ko-KR" sz="1300" spc="-1" dirty="0">
                <a:solidFill>
                  <a:schemeClr val="tx1"/>
                </a:solidFill>
              </a:rPr>
              <a:t> </a:t>
            </a:r>
            <a:r>
              <a:rPr lang="ko-KR" altLang="en-US" sz="1300" b="1" spc="-1" dirty="0">
                <a:solidFill>
                  <a:schemeClr val="tx1"/>
                </a:solidFill>
                <a:highlight>
                  <a:srgbClr val="FFFF00"/>
                </a:highlight>
              </a:rPr>
              <a:t>참</a:t>
            </a:r>
            <a:endParaRPr lang="en-US" altLang="ko-KR" sz="1300" b="1" spc="-1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endParaRPr lang="en-US" altLang="ko-KR" sz="1300" spc="-1" dirty="0">
              <a:solidFill>
                <a:schemeClr val="tx1"/>
              </a:solidFill>
            </a:endParaRPr>
          </a:p>
          <a:p>
            <a:r>
              <a:rPr lang="en-US" altLang="ko-KR" sz="1300" spc="-1" dirty="0">
                <a:solidFill>
                  <a:schemeClr val="tx1"/>
                </a:solidFill>
              </a:rPr>
              <a:t>       &lt;</a:t>
            </a:r>
            <a:r>
              <a:rPr lang="ko-KR" altLang="en-US" sz="1300" spc="-1" dirty="0">
                <a:solidFill>
                  <a:schemeClr val="tx1"/>
                </a:solidFill>
              </a:rPr>
              <a:t>가설</a:t>
            </a:r>
            <a:r>
              <a:rPr lang="en-US" altLang="ko-KR" sz="1300" spc="-1" dirty="0">
                <a:solidFill>
                  <a:schemeClr val="tx1"/>
                </a:solidFill>
              </a:rPr>
              <a:t>2&gt; </a:t>
            </a:r>
            <a:r>
              <a:rPr lang="en-US" altLang="ko-KR" sz="1300" spc="-1" dirty="0" err="1">
                <a:solidFill>
                  <a:schemeClr val="tx1"/>
                </a:solidFill>
              </a:rPr>
              <a:t>학생</a:t>
            </a:r>
            <a:r>
              <a:rPr lang="en-US" altLang="ko-KR" sz="1300" spc="-1" dirty="0">
                <a:solidFill>
                  <a:schemeClr val="tx1"/>
                </a:solidFill>
              </a:rPr>
              <a:t>/</a:t>
            </a:r>
            <a:r>
              <a:rPr lang="en-US" altLang="ko-KR" sz="1300" spc="-1" dirty="0" err="1">
                <a:solidFill>
                  <a:schemeClr val="tx1"/>
                </a:solidFill>
              </a:rPr>
              <a:t>교사</a:t>
            </a:r>
            <a:r>
              <a:rPr lang="en-US" altLang="ko-KR" sz="1300" spc="-1" dirty="0">
                <a:solidFill>
                  <a:schemeClr val="tx1"/>
                </a:solidFill>
              </a:rPr>
              <a:t> </a:t>
            </a:r>
            <a:r>
              <a:rPr lang="en-US" altLang="ko-KR" sz="1300" spc="-1" dirty="0" err="1">
                <a:solidFill>
                  <a:schemeClr val="tx1"/>
                </a:solidFill>
              </a:rPr>
              <a:t>비율이</a:t>
            </a:r>
            <a:r>
              <a:rPr lang="en-US" altLang="ko-KR" sz="1300" spc="-1" dirty="0">
                <a:solidFill>
                  <a:schemeClr val="tx1"/>
                </a:solidFill>
              </a:rPr>
              <a:t> </a:t>
            </a:r>
            <a:r>
              <a:rPr lang="en-US" altLang="ko-KR" sz="1300" spc="-1" dirty="0" err="1">
                <a:solidFill>
                  <a:schemeClr val="tx1"/>
                </a:solidFill>
              </a:rPr>
              <a:t>높을수록</a:t>
            </a:r>
            <a:r>
              <a:rPr lang="en-US" altLang="ko-KR" sz="1300" spc="-1" dirty="0">
                <a:solidFill>
                  <a:schemeClr val="tx1"/>
                </a:solidFill>
              </a:rPr>
              <a:t> 집 </a:t>
            </a:r>
            <a:r>
              <a:rPr lang="en-US" altLang="ko-KR" sz="1300" spc="-1" dirty="0" err="1">
                <a:solidFill>
                  <a:schemeClr val="tx1"/>
                </a:solidFill>
              </a:rPr>
              <a:t>값이</a:t>
            </a:r>
            <a:r>
              <a:rPr lang="en-US" altLang="ko-KR" sz="1300" spc="-1" dirty="0">
                <a:solidFill>
                  <a:schemeClr val="tx1"/>
                </a:solidFill>
              </a:rPr>
              <a:t> </a:t>
            </a:r>
            <a:r>
              <a:rPr lang="en-US" altLang="ko-KR" sz="1300" spc="-1" dirty="0" err="1">
                <a:solidFill>
                  <a:schemeClr val="tx1"/>
                </a:solidFill>
              </a:rPr>
              <a:t>높을</a:t>
            </a:r>
            <a:r>
              <a:rPr lang="en-US" altLang="ko-KR" sz="1300" spc="-1" dirty="0">
                <a:solidFill>
                  <a:schemeClr val="tx1"/>
                </a:solidFill>
              </a:rPr>
              <a:t> </a:t>
            </a:r>
            <a:r>
              <a:rPr lang="en-US" altLang="ko-KR" sz="1300" spc="-1" dirty="0" err="1">
                <a:solidFill>
                  <a:schemeClr val="tx1"/>
                </a:solidFill>
              </a:rPr>
              <a:t>것이다</a:t>
            </a:r>
            <a:r>
              <a:rPr lang="en-US" altLang="ko-KR" sz="1300" spc="-1" dirty="0">
                <a:solidFill>
                  <a:schemeClr val="tx1"/>
                </a:solidFill>
              </a:rPr>
              <a:t>. </a:t>
            </a:r>
            <a:r>
              <a:rPr lang="en-US" altLang="ko-KR" sz="1300" spc="-1" dirty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 altLang="ko-KR" sz="1300" spc="-1" dirty="0">
                <a:solidFill>
                  <a:schemeClr val="tx1"/>
                </a:solidFill>
              </a:rPr>
              <a:t> </a:t>
            </a:r>
            <a:r>
              <a:rPr lang="ko-KR" altLang="en-US" sz="1300" b="1" spc="-1" dirty="0">
                <a:solidFill>
                  <a:schemeClr val="tx1"/>
                </a:solidFill>
                <a:highlight>
                  <a:srgbClr val="FFFF00"/>
                </a:highlight>
              </a:rPr>
              <a:t>거짓</a:t>
            </a:r>
            <a:endParaRPr lang="en-US" altLang="ko-KR" sz="1300" b="1" spc="-1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endParaRPr lang="en-US" altLang="ko-KR" sz="1300" spc="-1" dirty="0">
              <a:solidFill>
                <a:schemeClr val="tx1"/>
              </a:solidFill>
            </a:endParaRPr>
          </a:p>
          <a:p>
            <a:r>
              <a:rPr lang="en-US" altLang="ko-KR" sz="1300" spc="-1" dirty="0">
                <a:solidFill>
                  <a:schemeClr val="tx1"/>
                </a:solidFill>
              </a:rPr>
              <a:t>       &lt;</a:t>
            </a:r>
            <a:r>
              <a:rPr lang="ko-KR" altLang="en-US" sz="1300" spc="-1" dirty="0">
                <a:solidFill>
                  <a:schemeClr val="tx1"/>
                </a:solidFill>
              </a:rPr>
              <a:t>가설</a:t>
            </a:r>
            <a:r>
              <a:rPr lang="en-US" altLang="ko-KR" sz="1300" spc="-1" dirty="0">
                <a:solidFill>
                  <a:schemeClr val="tx1"/>
                </a:solidFill>
              </a:rPr>
              <a:t>3&gt; </a:t>
            </a:r>
            <a:r>
              <a:rPr lang="en-US" altLang="ko-KR" sz="1300" spc="-1" dirty="0" err="1">
                <a:solidFill>
                  <a:schemeClr val="tx1"/>
                </a:solidFill>
              </a:rPr>
              <a:t>보스턴</a:t>
            </a:r>
            <a:r>
              <a:rPr lang="en-US" altLang="ko-KR" sz="1300" spc="-1" dirty="0">
                <a:solidFill>
                  <a:schemeClr val="tx1"/>
                </a:solidFill>
              </a:rPr>
              <a:t> 시 </a:t>
            </a:r>
            <a:r>
              <a:rPr lang="en-US" altLang="ko-KR" sz="1300" spc="-1" dirty="0" err="1">
                <a:solidFill>
                  <a:schemeClr val="tx1"/>
                </a:solidFill>
              </a:rPr>
              <a:t>고용시설까지</a:t>
            </a:r>
            <a:r>
              <a:rPr lang="en-US" altLang="ko-KR" sz="1300" spc="-1" dirty="0">
                <a:solidFill>
                  <a:schemeClr val="tx1"/>
                </a:solidFill>
              </a:rPr>
              <a:t> </a:t>
            </a:r>
            <a:r>
              <a:rPr lang="en-US" altLang="ko-KR" sz="1300" spc="-1" dirty="0" err="1">
                <a:solidFill>
                  <a:schemeClr val="tx1"/>
                </a:solidFill>
              </a:rPr>
              <a:t>거리가</a:t>
            </a:r>
            <a:r>
              <a:rPr lang="en-US" altLang="ko-KR" sz="1300" spc="-1" dirty="0">
                <a:solidFill>
                  <a:schemeClr val="tx1"/>
                </a:solidFill>
              </a:rPr>
              <a:t> </a:t>
            </a:r>
            <a:r>
              <a:rPr lang="en-US" altLang="ko-KR" sz="1300" spc="-1" dirty="0" err="1">
                <a:solidFill>
                  <a:schemeClr val="tx1"/>
                </a:solidFill>
              </a:rPr>
              <a:t>가까울수록</a:t>
            </a:r>
            <a:r>
              <a:rPr lang="en-US" altLang="ko-KR" sz="1300" spc="-1" dirty="0">
                <a:solidFill>
                  <a:schemeClr val="tx1"/>
                </a:solidFill>
              </a:rPr>
              <a:t> </a:t>
            </a:r>
            <a:r>
              <a:rPr lang="en-US" altLang="ko-KR" sz="1300" spc="-1" dirty="0" err="1">
                <a:solidFill>
                  <a:schemeClr val="tx1"/>
                </a:solidFill>
              </a:rPr>
              <a:t>집값이</a:t>
            </a:r>
            <a:r>
              <a:rPr lang="en-US" altLang="ko-KR" sz="1300" spc="-1" dirty="0">
                <a:solidFill>
                  <a:schemeClr val="tx1"/>
                </a:solidFill>
              </a:rPr>
              <a:t> </a:t>
            </a:r>
            <a:r>
              <a:rPr lang="en-US" altLang="ko-KR" sz="1300" spc="-1" dirty="0" err="1">
                <a:solidFill>
                  <a:schemeClr val="tx1"/>
                </a:solidFill>
              </a:rPr>
              <a:t>높을</a:t>
            </a:r>
            <a:r>
              <a:rPr lang="en-US" altLang="ko-KR" sz="1300" spc="-1" dirty="0">
                <a:solidFill>
                  <a:schemeClr val="tx1"/>
                </a:solidFill>
              </a:rPr>
              <a:t> </a:t>
            </a:r>
            <a:r>
              <a:rPr lang="en-US" altLang="ko-KR" sz="1300" spc="-1" dirty="0" err="1">
                <a:solidFill>
                  <a:schemeClr val="tx1"/>
                </a:solidFill>
              </a:rPr>
              <a:t>것이다</a:t>
            </a:r>
            <a:r>
              <a:rPr lang="en-US" altLang="ko-KR" sz="1300" spc="-1" dirty="0">
                <a:solidFill>
                  <a:schemeClr val="tx1"/>
                </a:solidFill>
              </a:rPr>
              <a:t>. </a:t>
            </a:r>
            <a:r>
              <a:rPr lang="en-US" altLang="ko-KR" sz="1300" spc="-1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300" b="1" spc="-1" dirty="0">
                <a:solidFill>
                  <a:schemeClr val="tx1"/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참</a:t>
            </a:r>
            <a:r>
              <a:rPr lang="en-US" altLang="ko-KR" sz="1300" spc="-1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endParaRPr lang="en-US" altLang="ko-KR" sz="1300" spc="-1" dirty="0">
              <a:solidFill>
                <a:schemeClr val="tx1"/>
              </a:solidFill>
            </a:endParaRPr>
          </a:p>
          <a:p>
            <a:endParaRPr lang="en-US" altLang="ko-KR" sz="1300" spc="-1" dirty="0">
              <a:solidFill>
                <a:schemeClr val="tx1"/>
              </a:solidFill>
            </a:endParaRPr>
          </a:p>
          <a:p>
            <a:r>
              <a:rPr lang="en-US" altLang="ko-KR" sz="1300" spc="-1" dirty="0">
                <a:solidFill>
                  <a:schemeClr val="tx1"/>
                </a:solidFill>
              </a:rPr>
              <a:t>       &lt;</a:t>
            </a:r>
            <a:r>
              <a:rPr lang="ko-KR" altLang="en-US" sz="1300" spc="-1" dirty="0">
                <a:solidFill>
                  <a:schemeClr val="tx1"/>
                </a:solidFill>
              </a:rPr>
              <a:t>가설</a:t>
            </a:r>
            <a:r>
              <a:rPr lang="en-US" altLang="ko-KR" sz="1300" spc="-1" dirty="0">
                <a:solidFill>
                  <a:schemeClr val="tx1"/>
                </a:solidFill>
              </a:rPr>
              <a:t>4&gt; </a:t>
            </a:r>
            <a:r>
              <a:rPr lang="en-US" altLang="ko-KR" sz="1300" spc="-1" dirty="0" err="1">
                <a:solidFill>
                  <a:schemeClr val="tx1"/>
                </a:solidFill>
              </a:rPr>
              <a:t>산화질소</a:t>
            </a:r>
            <a:r>
              <a:rPr lang="en-US" altLang="ko-KR" sz="1300" spc="-1" dirty="0">
                <a:solidFill>
                  <a:schemeClr val="tx1"/>
                </a:solidFill>
              </a:rPr>
              <a:t> </a:t>
            </a:r>
            <a:r>
              <a:rPr lang="en-US" altLang="ko-KR" sz="1300" spc="-1" dirty="0" err="1">
                <a:solidFill>
                  <a:schemeClr val="tx1"/>
                </a:solidFill>
              </a:rPr>
              <a:t>농도가</a:t>
            </a:r>
            <a:r>
              <a:rPr lang="en-US" altLang="ko-KR" sz="1300" spc="-1" dirty="0">
                <a:solidFill>
                  <a:schemeClr val="tx1"/>
                </a:solidFill>
              </a:rPr>
              <a:t> </a:t>
            </a:r>
            <a:r>
              <a:rPr lang="en-US" altLang="ko-KR" sz="1300" spc="-1" dirty="0" err="1">
                <a:solidFill>
                  <a:schemeClr val="tx1"/>
                </a:solidFill>
              </a:rPr>
              <a:t>높을수록</a:t>
            </a:r>
            <a:r>
              <a:rPr lang="en-US" altLang="ko-KR" sz="1300" spc="-1" dirty="0">
                <a:solidFill>
                  <a:schemeClr val="tx1"/>
                </a:solidFill>
              </a:rPr>
              <a:t> </a:t>
            </a:r>
            <a:r>
              <a:rPr lang="en-US" altLang="ko-KR" sz="1300" spc="-1" dirty="0" err="1">
                <a:solidFill>
                  <a:schemeClr val="tx1"/>
                </a:solidFill>
              </a:rPr>
              <a:t>집값이</a:t>
            </a:r>
            <a:r>
              <a:rPr lang="en-US" altLang="ko-KR" sz="1300" spc="-1" dirty="0">
                <a:solidFill>
                  <a:schemeClr val="tx1"/>
                </a:solidFill>
              </a:rPr>
              <a:t> </a:t>
            </a:r>
            <a:r>
              <a:rPr lang="en-US" altLang="ko-KR" sz="1300" spc="-1" dirty="0" err="1">
                <a:solidFill>
                  <a:schemeClr val="tx1"/>
                </a:solidFill>
              </a:rPr>
              <a:t>낮을</a:t>
            </a:r>
            <a:r>
              <a:rPr lang="en-US" altLang="ko-KR" sz="1300" spc="-1" dirty="0">
                <a:solidFill>
                  <a:schemeClr val="tx1"/>
                </a:solidFill>
              </a:rPr>
              <a:t> </a:t>
            </a:r>
            <a:r>
              <a:rPr lang="en-US" altLang="ko-KR" sz="1300" spc="-1" dirty="0" err="1">
                <a:solidFill>
                  <a:schemeClr val="tx1"/>
                </a:solidFill>
              </a:rPr>
              <a:t>것이다</a:t>
            </a:r>
            <a:r>
              <a:rPr lang="en-US" altLang="ko-KR" sz="1300" spc="-1" dirty="0">
                <a:solidFill>
                  <a:schemeClr val="tx1"/>
                </a:solidFill>
              </a:rPr>
              <a:t>. </a:t>
            </a:r>
            <a:r>
              <a:rPr lang="en-US" altLang="ko-KR" sz="1300" spc="-1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300" b="1" spc="-1" dirty="0">
                <a:solidFill>
                  <a:schemeClr val="tx1"/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참</a:t>
            </a:r>
            <a:endParaRPr lang="en-US" altLang="ko-KR" sz="1300" b="1" spc="-1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>
              <a:lnSpc>
                <a:spcPct val="150000"/>
              </a:lnSpc>
              <a:defRPr/>
            </a:pPr>
            <a:endParaRPr lang="en-US" altLang="ko-KR" sz="130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id="{FB4EF774-B89D-41F8-8159-C523DEACC711}"/>
              </a:ext>
            </a:extLst>
          </p:cNvPr>
          <p:cNvGraphicFramePr>
            <a:graphicFrameLocks noGrp="1"/>
          </p:cNvGraphicFramePr>
          <p:nvPr/>
        </p:nvGraphicFramePr>
        <p:xfrm>
          <a:off x="1618043" y="3290954"/>
          <a:ext cx="6669914" cy="27435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40520">
                  <a:extLst>
                    <a:ext uri="{9D8B030D-6E8A-4147-A177-3AD203B41FA5}">
                      <a16:colId xmlns:a16="http://schemas.microsoft.com/office/drawing/2014/main" val="1849764595"/>
                    </a:ext>
                  </a:extLst>
                </a:gridCol>
                <a:gridCol w="4229394">
                  <a:extLst>
                    <a:ext uri="{9D8B030D-6E8A-4147-A177-3AD203B41FA5}">
                      <a16:colId xmlns:a16="http://schemas.microsoft.com/office/drawing/2014/main" val="4138031708"/>
                    </a:ext>
                  </a:extLst>
                </a:gridCol>
              </a:tblGrid>
              <a:tr h="578704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sz="1500" b="1" dirty="0" err="1"/>
                        <a:t>LSTAT</a:t>
                      </a:r>
                      <a:r>
                        <a:rPr lang="en-US" altLang="ko-KR" sz="1500" b="1" dirty="0"/>
                        <a:t>(</a:t>
                      </a:r>
                      <a:r>
                        <a:rPr lang="ko-KR" altLang="en-US" sz="1500" b="1" dirty="0"/>
                        <a:t>저소득층 비율</a:t>
                      </a:r>
                      <a:r>
                        <a:rPr lang="en-US" altLang="ko-KR" sz="1500" b="1" dirty="0"/>
                        <a:t>)</a:t>
                      </a:r>
                      <a:endParaRPr lang="ko-KR" altLang="en-US" sz="1500" b="1" dirty="0"/>
                    </a:p>
                  </a:txBody>
                  <a:tcPr marL="74295" marR="74295" marT="37148" marB="37148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/>
                        <a:t>저소득층 비율이 낮을수록 부유한 지역이므로 집값이 높아지는 것은 사실이다</a:t>
                      </a:r>
                      <a:r>
                        <a:rPr lang="en-US" altLang="ko-KR" sz="1300" dirty="0"/>
                        <a:t>.</a:t>
                      </a:r>
                      <a:endParaRPr lang="ko-KR" altLang="en-US" sz="1300" dirty="0"/>
                    </a:p>
                  </a:txBody>
                  <a:tcPr marL="74295" marR="74295" marT="37148" marB="37148"/>
                </a:tc>
                <a:extLst>
                  <a:ext uri="{0D108BD9-81ED-4DB2-BD59-A6C34878D82A}">
                    <a16:rowId xmlns:a16="http://schemas.microsoft.com/office/drawing/2014/main" val="3998085932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sz="1500" b="1" dirty="0" err="1"/>
                        <a:t>PTRATIO</a:t>
                      </a:r>
                      <a:r>
                        <a:rPr lang="en-US" altLang="ko-KR" sz="1500" b="1" dirty="0"/>
                        <a:t>(</a:t>
                      </a:r>
                      <a:r>
                        <a:rPr lang="ko-KR" altLang="en-US" sz="1500" b="1" dirty="0"/>
                        <a:t>학생당 교사 비율</a:t>
                      </a:r>
                      <a:r>
                        <a:rPr lang="en-US" altLang="ko-KR" sz="1500" b="1" dirty="0"/>
                        <a:t>)</a:t>
                      </a:r>
                      <a:endParaRPr lang="ko-KR" altLang="en-US" sz="1500" b="1" dirty="0"/>
                    </a:p>
                  </a:txBody>
                  <a:tcPr marL="74295" marR="74295" marT="37148" marB="37148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dirty="0"/>
                        <a:t>1980</a:t>
                      </a:r>
                      <a:r>
                        <a:rPr lang="ko-KR" altLang="en-US" sz="1300" dirty="0"/>
                        <a:t>년대 보스턴에서는 학교를 다닐 수 없는 사람이 상대적으로 더 많았고</a:t>
                      </a:r>
                      <a:r>
                        <a:rPr lang="en-US" altLang="ko-KR" sz="1300" dirty="0"/>
                        <a:t> </a:t>
                      </a:r>
                      <a:r>
                        <a:rPr lang="ko-KR" altLang="en-US" sz="1300" dirty="0"/>
                        <a:t>부유한 사람들이 모인 지역이 오늘날과 다르게 학생당 교사 비율이 낮았다</a:t>
                      </a:r>
                      <a:r>
                        <a:rPr lang="en-US" altLang="ko-KR" sz="1300" dirty="0"/>
                        <a:t>.</a:t>
                      </a:r>
                      <a:endParaRPr lang="ko-KR" altLang="en-US" sz="1300" dirty="0"/>
                    </a:p>
                  </a:txBody>
                  <a:tcPr marL="74295" marR="74295" marT="37148" marB="37148"/>
                </a:tc>
                <a:extLst>
                  <a:ext uri="{0D108BD9-81ED-4DB2-BD59-A6C34878D82A}">
                    <a16:rowId xmlns:a16="http://schemas.microsoft.com/office/drawing/2014/main" val="1638082128"/>
                  </a:ext>
                </a:extLst>
              </a:tr>
              <a:tr h="5787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/>
                        <a:t>DIS(</a:t>
                      </a:r>
                      <a:r>
                        <a:rPr lang="ko-KR" altLang="en-US" sz="1500" b="1" dirty="0"/>
                        <a:t>노동센터 접근 거리</a:t>
                      </a:r>
                      <a:r>
                        <a:rPr lang="en-US" altLang="ko-KR" sz="1500" b="1" dirty="0"/>
                        <a:t>)</a:t>
                      </a:r>
                      <a:endParaRPr lang="ko-KR" altLang="en-US" sz="1500" b="1" dirty="0"/>
                    </a:p>
                  </a:txBody>
                  <a:tcPr marL="74295" marR="74295" marT="37148" marB="37148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/>
                        <a:t>고용시설들이 주로 형성된 지역일수록 접근성이 좋고 삶의 질이 상승하기 때문에 집값이 높아진다</a:t>
                      </a:r>
                      <a:r>
                        <a:rPr lang="en-US" altLang="ko-KR" sz="1300" dirty="0"/>
                        <a:t>.</a:t>
                      </a:r>
                      <a:endParaRPr lang="ko-KR" altLang="en-US" sz="1300" dirty="0"/>
                    </a:p>
                  </a:txBody>
                  <a:tcPr marL="74295" marR="74295" marT="37148" marB="37148"/>
                </a:tc>
                <a:extLst>
                  <a:ext uri="{0D108BD9-81ED-4DB2-BD59-A6C34878D82A}">
                    <a16:rowId xmlns:a16="http://schemas.microsoft.com/office/drawing/2014/main" val="1935591167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sz="1500" b="1" dirty="0"/>
                        <a:t>NOX(</a:t>
                      </a:r>
                      <a:r>
                        <a:rPr lang="ko-KR" altLang="en-US" sz="1500" b="1" dirty="0"/>
                        <a:t>산화질소 농도</a:t>
                      </a:r>
                      <a:r>
                        <a:rPr lang="en-US" altLang="ko-KR" sz="1500" b="1" dirty="0"/>
                        <a:t>)</a:t>
                      </a:r>
                      <a:endParaRPr lang="ko-KR" altLang="en-US" sz="1500" b="1" dirty="0"/>
                    </a:p>
                  </a:txBody>
                  <a:tcPr marL="74295" marR="74295" marT="37148" marB="37148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/>
                        <a:t>공원과의 가까운 집일수록 집값은 기하급수적으로 뛰기 때문에 </a:t>
                      </a:r>
                      <a:r>
                        <a:rPr lang="en-US" altLang="ko-KR" sz="1300" dirty="0"/>
                        <a:t>NOX</a:t>
                      </a:r>
                      <a:r>
                        <a:rPr lang="ko-KR" altLang="en-US" sz="1300" dirty="0"/>
                        <a:t>농도가 낮아질수록 집값이 높아지는 것은 참이다</a:t>
                      </a:r>
                      <a:r>
                        <a:rPr lang="en-US" altLang="ko-KR" sz="1300" dirty="0"/>
                        <a:t>.</a:t>
                      </a:r>
                      <a:endParaRPr lang="ko-KR" altLang="en-US" sz="1300" dirty="0"/>
                    </a:p>
                  </a:txBody>
                  <a:tcPr marL="74295" marR="74295" marT="37148" marB="37148"/>
                </a:tc>
                <a:extLst>
                  <a:ext uri="{0D108BD9-81ED-4DB2-BD59-A6C34878D82A}">
                    <a16:rowId xmlns:a16="http://schemas.microsoft.com/office/drawing/2014/main" val="1796513123"/>
                  </a:ext>
                </a:extLst>
              </a:tr>
            </a:tbl>
          </a:graphicData>
        </a:graphic>
      </p:graphicFrame>
      <p:sp>
        <p:nvSpPr>
          <p:cNvPr id="4" name="CustomShape 2">
            <a:extLst>
              <a:ext uri="{FF2B5EF4-FFF2-40B4-BE49-F238E27FC236}">
                <a16:creationId xmlns:a16="http://schemas.microsoft.com/office/drawing/2014/main" id="{4A0C92FC-7F59-4295-B18E-700AC5589991}"/>
              </a:ext>
            </a:extLst>
          </p:cNvPr>
          <p:cNvSpPr/>
          <p:nvPr/>
        </p:nvSpPr>
        <p:spPr>
          <a:xfrm>
            <a:off x="270720" y="132840"/>
            <a:ext cx="7778160" cy="395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altLang="ko-KR" sz="2000" spc="-79" dirty="0" err="1">
                <a:solidFill>
                  <a:srgbClr val="002060"/>
                </a:solidFill>
                <a:latin typeface="HY견고딕"/>
                <a:ea typeface="HY견고딕"/>
              </a:rPr>
              <a:t>결론</a:t>
            </a:r>
            <a:endParaRPr lang="en-US" altLang="ko-KR" sz="2000" spc="-1" dirty="0"/>
          </a:p>
        </p:txBody>
      </p:sp>
      <p:sp>
        <p:nvSpPr>
          <p:cNvPr id="5" name="CustomShape 1">
            <a:extLst>
              <a:ext uri="{FF2B5EF4-FFF2-40B4-BE49-F238E27FC236}">
                <a16:creationId xmlns:a16="http://schemas.microsoft.com/office/drawing/2014/main" id="{4C64885F-3E03-4A66-934E-C0DF74FB8568}"/>
              </a:ext>
            </a:extLst>
          </p:cNvPr>
          <p:cNvSpPr/>
          <p:nvPr/>
        </p:nvSpPr>
        <p:spPr>
          <a:xfrm>
            <a:off x="5988600" y="215640"/>
            <a:ext cx="3723120" cy="27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en-US" sz="1600" b="0" i="1" strike="noStrike" spc="-1">
                <a:solidFill>
                  <a:srgbClr val="002060"/>
                </a:solidFill>
                <a:latin typeface="HY견고딕"/>
                <a:ea typeface="HY견고딕"/>
              </a:rPr>
              <a:t>종합 실습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D46724-F008-4390-A4DD-3A1ECDA37C9A}"/>
              </a:ext>
            </a:extLst>
          </p:cNvPr>
          <p:cNvSpPr txBox="1"/>
          <p:nvPr/>
        </p:nvSpPr>
        <p:spPr>
          <a:xfrm>
            <a:off x="546755" y="763571"/>
            <a:ext cx="2366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최종 모델 결과</a:t>
            </a:r>
          </a:p>
        </p:txBody>
      </p:sp>
    </p:spTree>
    <p:extLst>
      <p:ext uri="{BB962C8B-B14F-4D97-AF65-F5344CB8AC3E}">
        <p14:creationId xmlns:p14="http://schemas.microsoft.com/office/powerpoint/2010/main" val="29650840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ustomShape 1"/>
          <p:cNvSpPr/>
          <p:nvPr/>
        </p:nvSpPr>
        <p:spPr>
          <a:xfrm>
            <a:off x="5988600" y="215640"/>
            <a:ext cx="3723120" cy="27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en-US" sz="1600" b="0" i="1" strike="noStrike" spc="-1">
                <a:solidFill>
                  <a:srgbClr val="002060"/>
                </a:solidFill>
                <a:latin typeface="HY견고딕"/>
                <a:ea typeface="HY견고딕"/>
              </a:rPr>
              <a:t>종합 실습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22" name="CustomShape 2"/>
          <p:cNvSpPr/>
          <p:nvPr/>
        </p:nvSpPr>
        <p:spPr>
          <a:xfrm>
            <a:off x="270720" y="132840"/>
            <a:ext cx="7778160" cy="395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2000" b="0" strike="noStrike" spc="-97" dirty="0" err="1">
                <a:solidFill>
                  <a:srgbClr val="002060"/>
                </a:solidFill>
                <a:latin typeface="HY견고딕"/>
                <a:ea typeface="HY견고딕"/>
              </a:rPr>
              <a:t>개선방향</a:t>
            </a:r>
            <a:r>
              <a:rPr lang="en-US" sz="2000" b="0" strike="noStrike" spc="-97" dirty="0">
                <a:solidFill>
                  <a:srgbClr val="002060"/>
                </a:solidFill>
                <a:latin typeface="HY견고딕"/>
                <a:ea typeface="HY견고딕"/>
              </a:rPr>
              <a:t> </a:t>
            </a:r>
            <a:r>
              <a:rPr lang="ko-KR" altLang="en-US" sz="2000" spc="-97" dirty="0">
                <a:solidFill>
                  <a:srgbClr val="002060"/>
                </a:solidFill>
                <a:latin typeface="HY견고딕"/>
                <a:ea typeface="HY견고딕"/>
              </a:rPr>
              <a:t>및</a:t>
            </a:r>
            <a:r>
              <a:rPr lang="ko-KR" altLang="en-US" sz="2000" b="0" strike="noStrike" spc="-97" dirty="0">
                <a:solidFill>
                  <a:srgbClr val="002060"/>
                </a:solidFill>
                <a:latin typeface="HY견고딕"/>
                <a:ea typeface="HY견고딕"/>
              </a:rPr>
              <a:t> 배운 점</a:t>
            </a:r>
            <a:endParaRPr lang="en-US" sz="2000" b="0" strike="noStrike" spc="-1" dirty="0"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4A4CC1-E40A-49A5-B9F9-5DD952599935}"/>
              </a:ext>
            </a:extLst>
          </p:cNvPr>
          <p:cNvSpPr txBox="1"/>
          <p:nvPr/>
        </p:nvSpPr>
        <p:spPr>
          <a:xfrm>
            <a:off x="698185" y="1894449"/>
            <a:ext cx="812590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sz="1600" spc="-1" dirty="0"/>
              <a:t>초기에 상자 </a:t>
            </a:r>
            <a:r>
              <a:rPr lang="ko-KR" altLang="en-US" sz="1600" spc="-1" dirty="0" err="1"/>
              <a:t>수염도표</a:t>
            </a:r>
            <a:r>
              <a:rPr lang="en-US" altLang="ko-KR" sz="1600" spc="-1" dirty="0"/>
              <a:t>(Box Plot)</a:t>
            </a:r>
            <a:r>
              <a:rPr lang="ko-KR" altLang="en-US" sz="1600" spc="-1" dirty="0"/>
              <a:t>를 이용하여 데이터를 확인해보니</a:t>
            </a:r>
            <a:r>
              <a:rPr lang="en-US" altLang="ko-KR" sz="1600" spc="-1" dirty="0"/>
              <a:t> MEDV, CRIM, ZN, RM, PTRATIO, LSTAT </a:t>
            </a:r>
            <a:r>
              <a:rPr lang="ko-KR" altLang="en-US" sz="1600" spc="-1" dirty="0"/>
              <a:t>변수 등 데이터에서 이상치가 많이 존재 하였지만 변수의 의미를 파악해 보며 탐색적 분석을 한 결과 제거할 수 있는 데이터가 없다고 판단하여 이상치 제거 없이 회귀식을 도출하였다</a:t>
            </a:r>
            <a:r>
              <a:rPr lang="en-US" altLang="ko-KR" sz="1600" spc="-1" dirty="0"/>
              <a:t>. </a:t>
            </a:r>
            <a:r>
              <a:rPr lang="ko-KR" altLang="en-US" sz="1600" spc="-1" dirty="0"/>
              <a:t>이에 대한 도메인 지식을 조금 더 깊게 학습해 이상 데이터 제거에 근거를 얻어 데이터를 정제할 수 있다면 조금 더 유의미한 결과를 뽑아낼 수 있을 것이라 생각한다</a:t>
            </a:r>
            <a:r>
              <a:rPr lang="en-US" altLang="ko-KR" sz="1600" spc="-1" dirty="0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C85DB6-49AC-48FF-B369-675B9F75A1B8}"/>
              </a:ext>
            </a:extLst>
          </p:cNvPr>
          <p:cNvSpPr txBox="1"/>
          <p:nvPr/>
        </p:nvSpPr>
        <p:spPr>
          <a:xfrm>
            <a:off x="461913" y="980632"/>
            <a:ext cx="2762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개선방향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ustomShape 1"/>
          <p:cNvSpPr/>
          <p:nvPr/>
        </p:nvSpPr>
        <p:spPr>
          <a:xfrm>
            <a:off x="5988600" y="215640"/>
            <a:ext cx="3723120" cy="27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en-US" sz="1600" b="0" i="1" strike="noStrike" spc="-1">
                <a:solidFill>
                  <a:srgbClr val="002060"/>
                </a:solidFill>
                <a:latin typeface="HY견고딕"/>
                <a:ea typeface="HY견고딕"/>
              </a:rPr>
              <a:t>종합 실습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22" name="CustomShape 2"/>
          <p:cNvSpPr/>
          <p:nvPr/>
        </p:nvSpPr>
        <p:spPr>
          <a:xfrm>
            <a:off x="270720" y="132840"/>
            <a:ext cx="7778160" cy="395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2000" b="0" strike="noStrike" spc="-97" dirty="0" err="1">
                <a:solidFill>
                  <a:srgbClr val="002060"/>
                </a:solidFill>
                <a:latin typeface="HY견고딕"/>
                <a:ea typeface="HY견고딕"/>
              </a:rPr>
              <a:t>개선방향</a:t>
            </a:r>
            <a:r>
              <a:rPr lang="en-US" sz="2000" b="0" strike="noStrike" spc="-97" dirty="0">
                <a:solidFill>
                  <a:srgbClr val="002060"/>
                </a:solidFill>
                <a:latin typeface="HY견고딕"/>
                <a:ea typeface="HY견고딕"/>
              </a:rPr>
              <a:t> </a:t>
            </a:r>
            <a:r>
              <a:rPr lang="ko-KR" altLang="en-US" sz="2000" spc="-97" dirty="0">
                <a:solidFill>
                  <a:srgbClr val="002060"/>
                </a:solidFill>
                <a:latin typeface="HY견고딕"/>
                <a:ea typeface="HY견고딕"/>
              </a:rPr>
              <a:t>및</a:t>
            </a:r>
            <a:r>
              <a:rPr lang="ko-KR" altLang="en-US" sz="2000" b="0" strike="noStrike" spc="-97" dirty="0">
                <a:solidFill>
                  <a:srgbClr val="002060"/>
                </a:solidFill>
                <a:latin typeface="HY견고딕"/>
                <a:ea typeface="HY견고딕"/>
              </a:rPr>
              <a:t> 배운 점</a:t>
            </a:r>
            <a:endParaRPr lang="en-US" sz="2000" b="0" strike="noStrike" spc="-1" dirty="0">
              <a:latin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788744-F487-4268-B066-B58168981F3C}"/>
              </a:ext>
            </a:extLst>
          </p:cNvPr>
          <p:cNvSpPr txBox="1"/>
          <p:nvPr/>
        </p:nvSpPr>
        <p:spPr>
          <a:xfrm>
            <a:off x="491096" y="959855"/>
            <a:ext cx="2243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Lesson Learn</a:t>
            </a:r>
            <a:endParaRPr lang="ko-KR" altLang="en-US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2C5AE1-EADF-4900-BC9A-C750F990C151}"/>
              </a:ext>
            </a:extLst>
          </p:cNvPr>
          <p:cNvSpPr txBox="1"/>
          <p:nvPr/>
        </p:nvSpPr>
        <p:spPr>
          <a:xfrm>
            <a:off x="678730" y="1859340"/>
            <a:ext cx="863064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이번 보스턴 집값 예측 종합실습을 진행하며</a:t>
            </a:r>
            <a:r>
              <a:rPr lang="en-US" altLang="ko-KR" sz="1600" dirty="0"/>
              <a:t> </a:t>
            </a:r>
            <a:r>
              <a:rPr lang="ko-KR" altLang="en-US" sz="1600" dirty="0"/>
              <a:t>데이터를 정제하고 가공하는 부분에 있어 좋은 </a:t>
            </a:r>
            <a:r>
              <a:rPr lang="en-US" altLang="ko-KR" sz="1600" dirty="0"/>
              <a:t>insight</a:t>
            </a:r>
            <a:r>
              <a:rPr lang="ko-KR" altLang="en-US" sz="1600" dirty="0"/>
              <a:t>를 얻었고 데이터 정제과정에서 도메인 지식의 중요성을 학습할 수 있었다</a:t>
            </a:r>
            <a:r>
              <a:rPr lang="en-US" altLang="ko-KR" sz="1600" dirty="0"/>
              <a:t>.</a:t>
            </a:r>
            <a:r>
              <a:rPr lang="ko-KR" altLang="en-US" sz="1600" dirty="0"/>
              <a:t> 또한 다중 회귀 모델을 만들어 변수들의 중요도와 상관성을 탐색해 보며 다중 회귀 모델에서 다중 공선성이 각 설명변수의 유의성을 저하시키는지 확인할 수 있는 좋은 기회가 되었다</a:t>
            </a:r>
            <a:r>
              <a:rPr lang="en-US" altLang="ko-KR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이번 종합실습 과제를 하면서 데이터의 정제부터 모델링</a:t>
            </a:r>
            <a:r>
              <a:rPr lang="en-US" altLang="ko-KR" sz="1600" dirty="0"/>
              <a:t>, </a:t>
            </a:r>
            <a:r>
              <a:rPr lang="ko-KR" altLang="en-US" sz="1600" dirty="0"/>
              <a:t>분석까지의 모든 일련의 과정을 경험할 수 있었다</a:t>
            </a:r>
            <a:r>
              <a:rPr lang="en-US" altLang="ko-KR" sz="1600" dirty="0"/>
              <a:t>. </a:t>
            </a:r>
            <a:r>
              <a:rPr lang="ko-KR" altLang="en-US" sz="1600" dirty="0"/>
              <a:t>나름의 </a:t>
            </a:r>
            <a:r>
              <a:rPr lang="ko-KR" altLang="en-US" sz="1600" dirty="0" err="1"/>
              <a:t>써칭을</a:t>
            </a:r>
            <a:r>
              <a:rPr lang="ko-KR" altLang="en-US" sz="1600" dirty="0"/>
              <a:t> 하고 근거를 바탕으로 가설을 세웠음에도 불구하고 가설에 반한 결과가 나오기도 했다</a:t>
            </a:r>
            <a:r>
              <a:rPr lang="en-US" altLang="ko-KR" sz="1600" dirty="0"/>
              <a:t>(</a:t>
            </a:r>
            <a:r>
              <a:rPr lang="en-US" altLang="ko-KR" sz="1600" dirty="0" err="1"/>
              <a:t>PTRATIO</a:t>
            </a:r>
            <a:r>
              <a:rPr lang="en-US" altLang="ko-KR" sz="1600" dirty="0"/>
              <a:t>). </a:t>
            </a:r>
            <a:r>
              <a:rPr lang="ko-KR" altLang="en-US" sz="1600" dirty="0"/>
              <a:t>하나의 근거</a:t>
            </a:r>
            <a:r>
              <a:rPr lang="en-US" altLang="ko-KR" sz="1600" dirty="0"/>
              <a:t>, </a:t>
            </a:r>
            <a:r>
              <a:rPr lang="ko-KR" altLang="en-US" sz="1600" dirty="0"/>
              <a:t>이유만이 아니라 영향을 미칠 가능성이 있는</a:t>
            </a:r>
            <a:r>
              <a:rPr lang="en-US" altLang="ko-KR" sz="1600" dirty="0"/>
              <a:t> </a:t>
            </a:r>
            <a:r>
              <a:rPr lang="ko-KR" altLang="en-US" sz="1600" dirty="0"/>
              <a:t>다양한 요인도 </a:t>
            </a:r>
            <a:r>
              <a:rPr lang="ko-KR" altLang="en-US" sz="1600" dirty="0" err="1"/>
              <a:t>고려해야겠다는</a:t>
            </a:r>
            <a:r>
              <a:rPr lang="ko-KR" altLang="en-US" sz="1600" dirty="0"/>
              <a:t> 생각이 들었다</a:t>
            </a:r>
            <a:r>
              <a:rPr lang="en-US" altLang="ko-KR" sz="1600" dirty="0"/>
              <a:t>. </a:t>
            </a:r>
            <a:r>
              <a:rPr lang="ko-KR" altLang="en-US" sz="1600" dirty="0"/>
              <a:t>뿐만 아니라</a:t>
            </a:r>
            <a:r>
              <a:rPr lang="en-US" altLang="ko-KR" sz="1600" dirty="0"/>
              <a:t>, </a:t>
            </a:r>
            <a:r>
              <a:rPr lang="ko-KR" altLang="en-US" sz="1600" dirty="0"/>
              <a:t>수업 시간에서는 간단한 전처리만 다뤄보면서 전처리가 쉬운 영역이라고 판단해왔는데</a:t>
            </a:r>
            <a:r>
              <a:rPr lang="en-US" altLang="ko-KR" sz="1600" dirty="0"/>
              <a:t>, </a:t>
            </a:r>
            <a:r>
              <a:rPr lang="ko-KR" altLang="en-US" sz="1600" dirty="0"/>
              <a:t>막상 해보니 데이터 분석가로서 실전에 나가면 데이터를 정제하는 과정이 정말 만만치 않을 것이란 생각이 들었다</a:t>
            </a:r>
            <a:r>
              <a:rPr lang="en-US" altLang="ko-KR" sz="1600" dirty="0"/>
              <a:t>. </a:t>
            </a:r>
            <a:r>
              <a:rPr lang="ko-KR" altLang="en-US" sz="1600" dirty="0"/>
              <a:t>전반적으로 전체적으로 데이터를 분석하는 것이 꽤나 판단하기 어려운 영역이란 생각도 들기도 했다</a:t>
            </a:r>
            <a:r>
              <a:rPr lang="en-US" altLang="ko-KR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458026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12754</TotalTime>
  <Words>1571</Words>
  <Application>Microsoft Office PowerPoint</Application>
  <PresentationFormat>A4 용지(210x297mm)</PresentationFormat>
  <Paragraphs>206</Paragraphs>
  <Slides>26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26</vt:i4>
      </vt:variant>
    </vt:vector>
  </HeadingPairs>
  <TitlesOfParts>
    <vt:vector size="35" baseType="lpstr">
      <vt:lpstr>HY견고딕</vt:lpstr>
      <vt:lpstr>나눔고딕</vt:lpstr>
      <vt:lpstr>맑은 고딕</vt:lpstr>
      <vt:lpstr>Arial</vt:lpstr>
      <vt:lpstr>Symbol</vt:lpstr>
      <vt:lpstr>Times New Roman</vt:lpstr>
      <vt:lpstr>Wingdings</vt:lpstr>
      <vt:lpstr>Office Theme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성윤 김</dc:creator>
  <dc:description/>
  <cp:lastModifiedBy>박미현</cp:lastModifiedBy>
  <cp:revision>756</cp:revision>
  <dcterms:created xsi:type="dcterms:W3CDTF">2018-11-28T05:51:33Z</dcterms:created>
  <dcterms:modified xsi:type="dcterms:W3CDTF">2020-10-27T10:29:07Z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A4 용지(210x297mm)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9</vt:i4>
  </property>
</Properties>
</file>